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Feasibility</c:v>
                </c:pt>
                <c:pt idx="2">
                  <c:v>Control</c:v>
                </c:pt>
                <c:pt idx="3">
                  <c:v>Adoption</c:v>
                </c:pt>
                <c:pt idx="4">
                  <c:v>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72</c:v>
                </c:pt>
                <c:pt idx="2">
                  <c:v>79</c:v>
                </c:pt>
                <c:pt idx="3">
                  <c:v>68</c:v>
                </c:pt>
                <c:pt idx="4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Feasibility</c:v>
                </c:pt>
                <c:pt idx="2">
                  <c:v>Control</c:v>
                </c:pt>
                <c:pt idx="3">
                  <c:v>Adoption</c:v>
                </c:pt>
                <c:pt idx="4">
                  <c:v>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72</c:v>
                </c:pt>
                <c:pt idx="2">
                  <c:v>79</c:v>
                </c:pt>
                <c:pt idx="3">
                  <c:v>68</c:v>
                </c:pt>
                <c:pt idx="4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Feasibility</c:v>
                </c:pt>
                <c:pt idx="2">
                  <c:v>Control</c:v>
                </c:pt>
                <c:pt idx="3">
                  <c:v>Adoption</c:v>
                </c:pt>
                <c:pt idx="4">
                  <c:v>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72</c:v>
                </c:pt>
                <c:pt idx="2">
                  <c:v>79</c:v>
                </c:pt>
                <c:pt idx="3">
                  <c:v>68</c:v>
                </c:pt>
                <c:pt idx="4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Feasibility</c:v>
                </c:pt>
                <c:pt idx="2">
                  <c:v>Control</c:v>
                </c:pt>
                <c:pt idx="3">
                  <c:v>Adoption</c:v>
                </c:pt>
                <c:pt idx="4">
                  <c:v>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72</c:v>
                </c:pt>
                <c:pt idx="2">
                  <c:v>79</c:v>
                </c:pt>
                <c:pt idx="3">
                  <c:v>68</c:v>
                </c:pt>
                <c:pt idx="4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Value</c:v>
                </c:pt>
                <c:pt idx="1">
                  <c:v>Feasibility</c:v>
                </c:pt>
                <c:pt idx="2">
                  <c:v>Control</c:v>
                </c:pt>
                <c:pt idx="3">
                  <c:v>Adoption</c:v>
                </c:pt>
                <c:pt idx="4">
                  <c:v>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72</c:v>
                </c:pt>
                <c:pt idx="2">
                  <c:v>79</c:v>
                </c:pt>
                <c:pt idx="3">
                  <c:v>68</c:v>
                </c:pt>
                <c:pt idx="4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457200"/>
            <a:ext cx="5669280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4846320" cy="2743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Aptos"/>
              </a:defRPr>
            </a:pPr>
            <a:r>
              <a:t>WSQ PROFESSIONAL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846320" cy="1600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123A63"/>
                </a:solidFill>
                <a:latin typeface="Aptos"/>
              </a:defRPr>
            </a:pPr>
            <a:r>
              <a:t>Generative AI for Finance and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466344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1">
                <a:solidFill>
                  <a:srgbClr val="1473E6"/>
                </a:solidFill>
                <a:latin typeface="Aptos"/>
              </a:defRPr>
            </a:pPr>
            <a:r>
              <a:t>From governed insight to controlled finance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475488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Aptos"/>
              </a:defRPr>
            </a:pPr>
            <a:r>
              <a:t>TGS-2026065050  ·  ACC-ICT-5004-1.1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4663440" cy="5943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0">
                <a:solidFill>
                  <a:srgbClr val="607086"/>
                </a:solidFill>
                <a:latin typeface="Aptos"/>
              </a:defRPr>
            </a:pPr>
            <a:r>
              <a:t>Tertiary Infotech Academy Pte Ltd</a:t>
            </a:r>
            <a:br/>
            <a:r>
              <a:t>v4.0 · 23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Welcome and 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Scan the attendance QR code shown by your trainer. Keep the LMS open for learning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Confirm your registered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Mark attendance at the required checkpoints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the trainer if your record does not appear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Meet your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Dr. Alfred Ang facilitates the course as a finance-AI decision and governance workshop.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Connect technical capabilities to business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Challenge assumptions with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Keep learner and assessment data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How we will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class alternates between visual concepts, decision conversations and evidence-led labs.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Question claims and reconcile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synthetic data in the learning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Share reasoning without sharing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Learning environment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All detailed procedures live in the Learner Guide and each lab folder.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Slides explain concepts and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Labs contain starter data and acceptance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LMS receives only learner-facing assessment papers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Four-day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understanding, apply finance copilots, orchestrate agents, then secure and govern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Day 1: foundations and opportunity 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Day 2: Copilot in Excel and Finance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Day 3: Microsoft 365 Copilot and Copilot Studio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6052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160520"/>
            <a:ext cx="73152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7024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25195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Day 4: risk, security, fraud, roadmap and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Skills framework alignment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ACC-ICT-5004-1.1 · Digital Technology Adoption and Innovation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Knowledge: K1–K4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Abilities: A1–A5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Evidence: 10 connected labs plus two assessments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Learning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By the end, you can support, evaluate, adopt, govern and economically scale finance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LO1: Support Artificial Intelligence (AI) and Generative AI innovations to champion organisation-wide innovation.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LO2: Evaluate and implement GAI technologies for the organisation.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LO3: Review and adopt new GAI technologies by reviewing use cases in finance operations.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6052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160520"/>
            <a:ext cx="73152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7024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25195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LO4: Review AI ethics and governance in organisation processes for proactive risk monitoring and safety.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502920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00600" y="5029200"/>
            <a:ext cx="73152" cy="6858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513892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512064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LO5: Review emerging trends in GAI and strategise cost-control measures to support innovation initiatives.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Assessment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Assessment samples the same judgement and evidence practised in the labs.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Written Assessment (SAQ): 4 open-ended questions · 60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Case Study: 5 integrated tasks · 60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Open book; no practice examination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6052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160520"/>
            <a:ext cx="73152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7024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25195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Written items map to K2/K1/K3/K4; case tasks map to A1–A5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Evidence standard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54480"/>
            <a:ext cx="3931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4343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737360"/>
            <a:ext cx="35478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93391"/>
            <a:ext cx="35204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1"/>
            <a:ext cx="3520439" cy="33192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strong answer is traceable, reconciled, controlled and decision-ready.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55448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554480"/>
            <a:ext cx="73152" cy="6858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664207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4592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the supplied scenario and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42316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600" y="2423160"/>
            <a:ext cx="73152" cy="685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3288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State assumptions explicitly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291839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3291839"/>
            <a:ext cx="73152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0156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8327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Show formulas, tests or control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160520"/>
            <a:ext cx="6720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4160520"/>
            <a:ext cx="73152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70248"/>
            <a:ext cx="5029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2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251959"/>
            <a:ext cx="5623560" cy="4572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Name the accountable reviewer and escalation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 · FACILITATOR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Trainer profile template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77240" y="1600200"/>
            <a:ext cx="1371600" cy="137160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371600" cy="1371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554480"/>
            <a:ext cx="4069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554480"/>
            <a:ext cx="73152" cy="1874519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737360"/>
            <a:ext cx="36850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1993391"/>
            <a:ext cx="36576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Finance and fintech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450591"/>
            <a:ext cx="3657600" cy="8503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Relevant experience in finance operations, analytics, risk, governance or technology adoption.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54480"/>
            <a:ext cx="4434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554480"/>
            <a:ext cx="73152" cy="187451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1737360"/>
            <a:ext cx="4050791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1993391"/>
            <a:ext cx="402335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AI facilitation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50591"/>
            <a:ext cx="4023359" cy="8503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Can demonstrate copilots and agents while keeping evidence, privacy, security and accountability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794760"/>
            <a:ext cx="4069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794760"/>
            <a:ext cx="73152" cy="15087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3977640"/>
            <a:ext cx="36850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4233672"/>
            <a:ext cx="36576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Assessment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4690872"/>
            <a:ext cx="3657600" cy="4846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Explains evidence standards without coaching answers.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794760"/>
            <a:ext cx="44348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3794760"/>
            <a:ext cx="73152" cy="1508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31736" y="3977640"/>
            <a:ext cx="4050791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4233672"/>
            <a:ext cx="402335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Learner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690872"/>
            <a:ext cx="4023359" cy="4846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Creates a safe environment for questions, peer review and escalation.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 · VISUAL LEARNER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Download course material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Sign in to LMS-TMS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Open your enrolled course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Select course material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Download the learner files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Confirm the lab folders 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ORIENTATION · EVIDENCE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Assessment flow and sign-off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25880" y="1600200"/>
            <a:ext cx="731520" cy="73152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6032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73152" cy="2286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7063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WA · SAQ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273552"/>
            <a:ext cx="2103120" cy="1463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4 open-ended responses</a:t>
            </a:r>
            <a:br/>
            <a:br/>
            <a:r>
              <a:t>Knowledge K2/K1/K3/K4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3474720"/>
            <a:ext cx="274319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42232" y="160020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2" y="160020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56032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2560320"/>
            <a:ext cx="73152" cy="2286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7063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273552"/>
            <a:ext cx="2103120" cy="1463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5 integrated tasks</a:t>
            </a:r>
            <a:br/>
            <a:br/>
            <a:r>
              <a:t>Abilities A1–A5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5312" y="3474720"/>
            <a:ext cx="274319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58584" y="1600200"/>
            <a:ext cx="731520" cy="73152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160020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256032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2560320"/>
            <a:ext cx="73152" cy="22860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77063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Assessor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73552"/>
            <a:ext cx="2103120" cy="1463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and criteria</a:t>
            </a:r>
            <a:br/>
            <a:br/>
            <a:r>
              <a:t>C / NYC decision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1664" y="34747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74936" y="160020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936" y="160020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256032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2560320"/>
            <a:ext cx="73152" cy="2286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277063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Candidate sign-off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273552"/>
            <a:ext cx="2103120" cy="1463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Feedback and acknowledgement</a:t>
            </a:r>
            <a:br/>
            <a:br/>
            <a:r>
              <a:t>Final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123A63"/>
                </a:solidFill>
                <a:latin typeface="Aptos"/>
              </a:defRPr>
            </a:pPr>
            <a:r>
              <a:t>Open book · two controlled instruments · no practice examination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1">
                <a:solidFill>
                  <a:srgbClr val="DFF5F5"/>
                </a:solidFill>
                <a:latin typeface="Aptos"/>
              </a:defRPr>
            </a:pPr>
            <a:r>
              <a:t>TOPIC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Introduction to Generative AI and Its Foundations in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3327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0">
                <a:solidFill>
                  <a:srgbClr val="D9ECFF"/>
                </a:solidFill>
                <a:latin typeface="Aptos"/>
              </a:defRPr>
            </a:pPr>
            <a:r>
              <a:t>AI, machine learning, GenAI, agents, finance value chains and responsible innovation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484632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892040"/>
            <a:ext cx="5029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Competency focus  K2 · 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AI, ML, GenAI and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These are nested capabilities, not interchangeable labels.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AI performs tasks associated with intelligence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Machine learning learns patterns from data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Generative AI creates or transforms content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Agents pursue goals by selecting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The finance decision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AI creates value only when insight changes an accountable decision.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Observe transactions and business drivers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Interpret signals in financial context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Recommend or execute a bounded action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Record evidence, approvals and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Generative versus predictive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Prediction estimates what may happen; generation explains, drafts or synthesises.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Credit default probability is predictive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variance narrative is generative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Fraud triage often combines both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Controls differ by impact and autonomy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Agentic AI anatomy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useful agent is a governed system of instructions, knowledge, tools and memory.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Instructions define purpose and boundaries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Knowledge grounds answers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Tools perform permitted actions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Identity and memory preserve context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Single-agent versus multi-agent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Specialisation can improve clarity, but orchestration adds failure modes.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Single agents are simpler to test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Multi-agent systems separate roles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Handoffs need contracts and logs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supervisor agent must not become an unbounded 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Where finance creates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The strongest early uses reduce repetitive analysis while preserving judgement.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Close and reconciliation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Planning and variance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Collections and working capital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Risk, compliance and audit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Three horizons of adoption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Assist, automate and transform require progressively stronger controls.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Assist: draft and analyse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Automate: execute repeatable bounded steps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Transform: redesign end-to-end work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Autonomy rises only with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Data grounding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answers must be tied to authoritative, dated and permissioned sources.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controlled workbooks and ERP extracts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Retain source links and as-of dates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facts from assumptions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 not infer missing accounting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Prompt contracts for finance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strong prompt names the role, task, data boundary, controls and output schema.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State the finance objective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allowed sources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 reconciliations and caveats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Specify tables, units and review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Human accountability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AI can prepare and recommend; accountable people approve material finance decisions.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preparer and reviewer roles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Set monetary and risk thresholds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 evidence for overrides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Escalate ambiguity rather than fabricate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Innovation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Select use cases by value, feasibility, controlability and learning speed.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Prioritise low-risk high-frequency work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Avoid consumer-impact decisions as first pilots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Measure baseline before automation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Design an exit path and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Responsible experimentation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sandbox is a control boundary, not a licence to upload sensitive data.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synthetic or masked data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Restrict connectors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Log prompt and output tests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Promote through governed environments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Accounts payable invoice triage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Route invoices, detect missing fields and draft exception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handling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Invoice fraud and duplicate 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Three-way match, duplicate rules, reviewer approval</a:t>
            </a:r>
            <a:br/>
            <a:br/>
            <a:r>
              <a:t>Measure: Touchless rate · exception ageing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Accounts payable invoice triage: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Route invoices, detect missing fields and draft exception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Three-way match, duplicate rules, reviewer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Invoice fraud and duplicate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Touchless rate · exception ageing   •   Pattern source: Microsoft finance scenario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Cash application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remittances to open invoices and explain residuals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posting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customer allocation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Tolerance rules, customer key validation, audit trail</a:t>
            </a:r>
            <a:br/>
            <a:br/>
            <a:r>
              <a:t>Measure: Auto-match rate · unapplied 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Cash application: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remittances to open invoices and explain residuals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Tolerance rules, customer key validation,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customer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Auto-match rate · unapplied cash   •   Pattern source: Microsoft finance scenario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prioritisation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Rank overdue accounts and draft context-aware outreach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Improved DSO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Unfair or inappropriate communication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Approved templates and human send approval</a:t>
            </a:r>
            <a:br/>
            <a:br/>
            <a:r>
              <a:t>Measure: Promise-to-pay rate · DSO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prioritisation: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Rank overdue accounts and draft context-aware outreach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Approved templates and human send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Unfair or inappropriate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Promise-to-pay rate · DSO   •   Pattern source: Microsoft Finance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Expense policy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employee expense questions from approved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Outdated or unauthorised advice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Effective-date citations and escalation</a:t>
            </a:r>
            <a:br/>
            <a:br/>
            <a:r>
              <a:t>Measure: First-contact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Expense policy assistant: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employee expense questions from approved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Effective-date citations and escalation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Outdated or unauthorised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First-contact resolution   •   Pattern source: Microsoft Copilot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Regulatory filing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obligations and draft a review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interpretation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Hallucinated requirement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Primary-source citations and legal review</a:t>
            </a:r>
            <a:br/>
            <a:br/>
            <a:r>
              <a:t>Measure: Review hours · citation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Regulatory filing summarisation: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obligations and draft a review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Primary-source citations and legal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Hallucinated requirement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Review hours · citation accuracy   •   Pattern source: US Treasury AI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Earnings-call preparation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Synthesize performance drivers and likely stakeholder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preparation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Selective or misleading narrative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approved results and disclosures</a:t>
            </a:r>
            <a:br/>
            <a:br/>
            <a:r>
              <a:t>Measure: Prep cycle time · corrections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Earnings-call preparation: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Synthesize performance drivers and likely stakeholder questions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approved results and disclosures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Selective or misleading narrative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Prep cycle time · corrections   •   Pattern source: AFP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Treasury liquidity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TREASURY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cash, facilities and forecast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Stale balances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As-of timestamps and source reconciliation</a:t>
            </a:r>
            <a:br/>
            <a:br/>
            <a:r>
              <a:t>Measure: Forecast error · liquidity 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Treasury liquidity briefing: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cash, facilities and forecast risks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As-of timestamps and source reconciliation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Stale balances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Forecast error · liquidity headroom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Credit memo drafting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borrower facts and analyst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Analyst productivity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Bias and unsupported conclusions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Reason codes, source citations, credit approval</a:t>
            </a:r>
            <a:br/>
            <a:br/>
            <a:r>
              <a:t>Measure: Turnaround · override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Credit memo drafting: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borrower facts and analyst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Reason codes, source citations, credit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Bias and unsupported conclusions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Turnaround · override rate   •   Pattern source: US Treasury AI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Insurance claims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documents and flag inconsistencies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Sensitive-data leakage and wrongful denial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Access control, human adjudication, appeal</a:t>
            </a:r>
            <a:br/>
            <a:br/>
            <a:r>
              <a:t>Measure: Cycle time · rework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Insurance claims summarisation: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documents and flag inconsistencies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Access control, human adjudication, appeal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Sensitive-data leakage and wrongful denial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Cycle time · rework   •   Pattern source: US Treasury AI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Financial research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filings, transcripts and macro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Broader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Unverified market 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Citations, as-of dates, restricted recommendation scope</a:t>
            </a:r>
            <a:br/>
            <a:br/>
            <a:r>
              <a:t>Measure: Source coverage · correction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Financial research synthesis: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filings, transcripts and macro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Citations, as-of dates, restricted recommendation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Unverified market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Source coverage · correction rate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JPMorgan contract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Document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Machine learning and language processing applied to high-volume contract review; use as a pattern for evidence extraction, not autonomous legal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OCBC AI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Banking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legacy deck profiles customer, operations and decision-support uses; the updated lesson separates reported capability from training assumptions.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Morgan Stanley knowledge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Wealth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grounded assistant helps advisers navigate approved internal research while the adviser remains accountable for client advice.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Topic 1 · value-and-control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6" y="178308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03911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6" y="2496312"/>
            <a:ext cx="3017520" cy="8961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magnitude, exceptions and trend before generating a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7764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23367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the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4690872"/>
            <a:ext cx="3017520" cy="121615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source totals, verify units and distinguish fact from hypothesis.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1 · Prioritise a Finance AI Use-Case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K2 · 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Northstar Finance is selecting its first governed AI pilots across FP&amp;A, controllership, treasury, risk and customer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90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finance AI opportunities by value, feasibility, risk and learning speed.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prioritised portfolio and one-page pilot charter.</a:t>
            </a:r>
            <a:br/>
            <a:br/>
            <a:r>
              <a:t>Acceptance: Weights total 100%; every shortlisted use case has a named owner, baseline KPI, risk tier and stop condition.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1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the synthetic use-case backlog and confirm the scoring definitions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the weighted scoring sheet to rank initiatives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Challenge the top three for data, control and adoption constraints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Select one pilot and complete the charter with owner, scope, baseline, KPI and stop condition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Peer-review the decision and record unresolved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1">
                <a:solidFill>
                  <a:srgbClr val="DFF5F5"/>
                </a:solidFill>
                <a:latin typeface="Aptos"/>
              </a:defRPr>
            </a:pPr>
            <a:r>
              <a:t>TOPIC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Excel Copilot for Finance Planning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3327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0">
                <a:solidFill>
                  <a:srgbClr val="D9ECFF"/>
                </a:solidFill>
                <a:latin typeface="Aptos"/>
              </a:defRPr>
            </a:pPr>
            <a:r>
              <a:t>Data readiness, formulas, dashboards, FP&amp;A, variance analysis, reconciliation and controls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484632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892040"/>
            <a:ext cx="5029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Competency focus  K1 ·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Copilot in Excel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Copilot edits native Excel objects so the result remains reviewable and editable.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Works with tables, formulas and cell ranges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Creates charts and PivotTables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Supports edit, plan and chat modes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Can complete multi-step workbook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Agent surfaces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Agent brings purpose-built processes into Excel, Outlook and Microsoft Copilot.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Excel: reconciliation and variance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Outlook: collections context and communication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Copilot: central finance insights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ERP and FP&amp;A connectivity varies by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Workbook readiness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Reliable AI analysis starts with a flat, typed, labelled table.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One row per business event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Stable headers without merged cells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Dates and currencies stored as real values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Unique keys and clear dimensions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Table design for finance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Structure determines whether formulas and AI explanations reconcile.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source, assumptions and outputs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Excel Tables and structured references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Protect key formulas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Document units and sign conventions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Plan, edit or chat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Choose the least invasive Copilot mode that meets the task.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Chat for read-only exploration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Plan to review an intended approach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Edit for bounded workbook changes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changes before 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Formula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Generated formulas are proposals that require audit like human-authored formulas.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Prefer transparent native functions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Check ranges and absolute references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edge cases and blanks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totals to a control figure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formula toolkit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compact formula vocabulary covers much of operational analysis.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SUMIFS for controlled aggregation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XLOOKUP for mapped dimensions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IFERROR for explicit exception handling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FORECAST.LINEAR and scenario assumptions for 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Dashboard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finance dashboard is a decision surface, not a collage of charts.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Show actual, budget and variance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consistent time and currency units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Expose exceptions and drivers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Link every visual to traceable source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Variance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Variance analysis connects a number to its business drivers and next action.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materiality criteria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compatible periods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top contributors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a narrative that cites the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Period-over-period 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Time columns and grouping determine the meaning of MoM, QoQ and YoY comparisons.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Order periods consistently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source data from PivotTable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Retain the comparison basis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Check seasonality before 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Reconciliation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Matching is a rules-and-evidence problem before it becomes an AI problem.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Standardise keys and amounts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exact and tolerance matches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timing from true exceptions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Record disposition and reviewer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Close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Automation should strengthen evidence for completeness, accuracy and cut-off.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 totals before and after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Exception queues with ageing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Reviewer sign-off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Immutable activity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Forecasting with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Copilot accelerates model assembly, but assumptions remain management-owned.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Start from operational drivers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base, upside and downside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formulas instead of hard-coded outputs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Back-test against actuals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Scenario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scenario changes coherent assumptions, not isolated cells.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Revenue volume and price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Cost inflation and productivity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Working-capital days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Funding and liquidity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Management commentary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useful narrative quantifies the issue, identifies a driver and names an action.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State magnitude and period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Distinguish fact from hypothesis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Name owner and due date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Avoid unsupported causal 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Excel control checklist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Before sharing an AI-assisted workbook, prove structure, formulas, outputs and access.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Formula error scan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Control-total reconciliation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Sensitivity and edge-case tests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Protected source and assumption ranges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Budget build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an editable driver-based budget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model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Hidden hard-codes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Formula audit and assumption register</a:t>
            </a:r>
            <a:br/>
            <a:br/>
            <a:r>
              <a:t>Measure: Build time · formula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Budget build assistant: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an editable driver-based budget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Formula audit and assumption register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Hidden hard-codes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Build time · formula defects   •   Pattern source: Copilot in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Management variance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material period variances and draft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Shorter reporting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causality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rules and evidence-backed narrative</a:t>
            </a:r>
            <a:br/>
            <a:br/>
            <a:r>
              <a:t>Measure: Close days · narrative corrections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Management variance analysis: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material period variances and draft drivers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rules and evidence-backed narrative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causality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Close days · narrative corrections   •   Pattern source: Microsoft Finance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Balance-sheet reconciliation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account structures and generate reconciliation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close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matching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Deterministic rules, tolerance and reviewer sign-off</a:t>
            </a:r>
            <a:br/>
            <a:br/>
            <a:r>
              <a:t>Measure: Auto-match rate · aged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Balance-sheet reconciliation: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account structures and generate reconciliation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Deterministic rules, tolerance and reviewer sign-off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Auto-match rate · aged items   •   Pattern source: Microsoft Finance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Intercompany matching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reciprocal entries and surface entity or FX differences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unresolved 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Cross-entity access leakage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Entity scoping and elimination controls</a:t>
            </a:r>
            <a:br/>
            <a:br/>
            <a:r>
              <a:t>Measure: Unmatched value · ageing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Intercompany matching: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reciprocal entries and surface entity or FX differences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Entity scoping and elimination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Cross-entity access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Unmatched value · ageing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Revenue bridge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Decompose growth into volume, price, mix and FX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Clearer performance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attribution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Reconciled bridge and driver definitions</a:t>
            </a:r>
            <a:br/>
            <a:br/>
            <a:r>
              <a:t>Measure: Unexplained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Revenue bridge: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Decompose growth into volume, price, mix and FX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Reconciled bridge and driver definitions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Unexplained variance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Rolling forecast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Extend forecast from recent actuals and operational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reforecast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Overfitting and stale assumptions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Back-testing and scenario review</a:t>
            </a:r>
            <a:br/>
            <a:br/>
            <a:r>
              <a:t>Measure: MAPE ·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Rolling forecast: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Extend forecast from recent actuals and operational drivers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Back-testing and scenario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Overfitting and stale assumptions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MAPE · bias   •   Pattern source: Copilot in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Headcount cost forecast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hires, attrition, salary, bonus and vacancy timing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workforce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Personal-data exposure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Aggregate data and restricted payroll access</a:t>
            </a:r>
            <a:br/>
            <a:br/>
            <a:r>
              <a:t>Measure: Forecast error · vacancy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Headcount cost forecast: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hires, attrition, salary, bonus and vacancy timing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Aggregate data and restricted payroll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Personal-data exposure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Forecast error · vacancy variance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Working-capital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TREASURY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Visualise DSO, DPO, inventory days and cash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Actionable cash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Metric inconsistency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Definitions and control totals</a:t>
            </a:r>
            <a:br/>
            <a:br/>
            <a:r>
              <a:t>Measure: Cash conversion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Working-capital dashboard: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Visualise DSO, DPO, inventory days and cash conversion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Definitions and control totals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Metric inconsistency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Cash conversion cycle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Spend anomaly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Highlight unusual vendor, amount or timing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Leakage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accusations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Risk scores as triage only</a:t>
            </a:r>
            <a:br/>
            <a:br/>
            <a:r>
              <a:t>Measure: Confirmed exceptions · review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Spend anomaly review: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Highlight unusual vendor, amount or timing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Risk scores as triage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accusations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Confirmed exceptions · review load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Board pack 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CFO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charts, narrative and actions from approved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Shorter reporting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Disclosure inconsistency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Single approved source and CFO review</a:t>
            </a:r>
            <a:br/>
            <a:br/>
            <a:r>
              <a:t>Measure: Cycle time · revisions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Board pack production: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charts, narrative and actions from approved workbook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Single approved source and CFO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Disclosure inconsistency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Cycle time · revisions   •   Pattern source: Microsoft 365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Agent reconciliation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Microsoft describes automated reconciliation reports, discrepancy suggestions and saved audit-ready summaries in Excel.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Agent variance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FP&amp;A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AI identifies material period variances, contributing factors and a structured narrative from flat source data and PivotTables.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Topic 2 · value-and-control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6" y="178308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03911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6" y="2496312"/>
            <a:ext cx="3017520" cy="8961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magnitude, exceptions and trend before generating a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7764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23367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the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4690872"/>
            <a:ext cx="3017520" cy="121615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source totals, verify units and distinguish fact from hypothesis.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2 · Prepare Finance Data for Copilot in Excel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K1 ·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FP&amp;A team receives a mixed-quality export from the billing system and must prepare it for Copilot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90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Convert messy finance transactions into an analysis-ready Excel Table with control totals.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clean transactions table, quality log and reconciled control totals.</a:t>
            </a:r>
            <a:br/>
            <a:br/>
            <a:r>
              <a:t>Acceptance: Duplicate count is zero, required-field errors are zero, and clean totals reconcile to the supplied control figures.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2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Open the starter workbook and review the Data Dictionary and expected control total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Convert the source range to an Excel Table and standardise headers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Correct date, currency, account and department fields without changing transaction IDs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validation formulas to detect missing keys, duplicates and invalid signs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clean revenue and expense totals to the control sheet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3 · Build an FP&amp;A Formula Model and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K1 ·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Northstar's CFO needs a monthly performance dashboard and a transparent base/downside forecast.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150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native finance formulas, scenarios and charts to build an auditable management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 editable dashboard with actual, budget, variance, forecast and driver views.</a:t>
            </a:r>
            <a:br/>
            <a:br/>
            <a:r>
              <a:t>Acceptance: Dashboard charts remain linked to data; all formula checks pass; total variance equals actual less budget; scenarios use assumption cells rather than hard-coded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3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the source Actuals, Budget and Assumptions tables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Complete SUMIFS, XLOOKUP, IFERROR, growth and margin formulas in the Analysis sheet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base and downside forecasts from volume, price, cost and working-capital assumptions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KPI tiles and native charts linked to the Analysis table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Copilot plan mode to propose improvements; accept only changes that preserve auditability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4 · Reconcile Accounts and Explain Variances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K1 ·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controller must reconcile ERP and bank/ledger extracts and explain material monthly movements.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Apply deterministic matching and Finance Agent-style variance analysis to a month-end close.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reconciliation report, exception queue and evidence-backed variance narrative.</a:t>
            </a:r>
            <a:br/>
            <a:br/>
            <a:r>
              <a:t>Acceptance: Matched plus exception values reconcile to each source; all unresolved items have a reason and owner; the narrative cites actual values and materiality thresholds.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4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the two source tables and control totals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Apply exact, reference and tolerance match logic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Classify timing items separately from unresolved exceptions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the reconciliation summary and assign exception owners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Prepare a PivotTable-ready variance table with ordered periods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1">
                <a:solidFill>
                  <a:srgbClr val="DFF5F5"/>
                </a:solidFill>
                <a:latin typeface="Aptos"/>
              </a:defRPr>
            </a:pPr>
            <a:r>
              <a:t>TOPIC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Practical Applications of Agentic AI to Automate Financial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3327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0">
                <a:solidFill>
                  <a:srgbClr val="D9ECFF"/>
                </a:solidFill>
                <a:latin typeface="Aptos"/>
              </a:defRPr>
            </a:pPr>
            <a:r>
              <a:t>Finance query agents, close orchestration, collections, reporting, multi-agent design and UAT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484632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892040"/>
            <a:ext cx="5029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Competency focus  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Microsoft 365 Copilot in finance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The same grounded context can support analysis, communication and decision packs.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Excel develops evidence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Word structures the memo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PowerPoint communicates the decision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Outlook and Teams coordinate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query management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Copilot Studio agent can answer policy and process questions from approved knowledge.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Ground on finance policies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Respect source permissions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Return citations and effective dates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Escalate exceptions to a 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agent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Collections combines ERP context, prioritisation and controlled communication.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Prioritise by value and ageing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account history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Draft a context-aware message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 human approval before sending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Balance-sheet reconciliation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An agent can coordinate matching, evidence requests and reviewer handoffs.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Ingest approved extracts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Apply deterministic match rules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Explain residual exceptions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Prepare an auditable task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Copilot Studio building blocks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Knowledge, tools, topics and instructions must be designed as one control system.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Knowledge answers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Tools act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Topics handle deterministic paths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Instructions set operating boundaries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 authentication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An agent must know who is asking before retrieving or acting on finance data.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Authenticate with Microsoft Entra ID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Apply least privilege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Preserve source-level permissions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Avoid anonymous access for internal finance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Tools and connectors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Every connector expands both capability and data-exfiltration risk.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Classify as business, non-business or blocked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read from write tools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Constrain endpoints and actions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connection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Generative orchestration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The agent selects knowledge and tools dynamically; testing must cover unexpected routes.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intent ambiguity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tool-selection conflicts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unavailable dependencies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refusal and 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Multi-agent close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Specialist agents can prepare reconciliations, variances and commentary under a close supervisor.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Reconciliation specialist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Variance analyst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Disclosure drafter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Controller approval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 handoff contract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handoff needs a structured payload, status and evidence pointer.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Task and scope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Input and source IDs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Result and confidence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Exceptions and required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UAT for finance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UAT proves usefulness and control performance under realistic data and edge cases.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Happy path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Missing and conflicting data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Unauthorised user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High-impact action requiring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 evaluation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Measure answer quality, groundedness, task completion and control adherence separately.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Correctness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 quality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Tool success rate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Policy violation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ALM and environments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Move agents through development, test and production with explicit approvals.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Managed solutions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Environment variables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Connection references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Release and rollback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Operational monitoring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live agent needs owners, telemetry and incident procedures.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Usage and latency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Failure and escalation rate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Data-policy alerts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Cost and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When not to automate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Keep tasks human-led when judgement, novelty or irreversible impact dominates.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 journal approval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Customer eligibility decisions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Regulatory interpretation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Unbounded external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Internal finance query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FINANCE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process and policy questions with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support 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Oversharing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Authentication, source permissions and DLP</a:t>
            </a:r>
            <a:br/>
            <a:br/>
            <a:r>
              <a:t>Measure: Resolution ·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Internal finance query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process and policy questions with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Authentication, source permissions and DLP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Oversharing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Resolution · escalation   •   Pattern source: Microsoft scenario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Close orchestration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Coordinate tasks, owners, evidence and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More predictable close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Unapproved journal or sign-off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Read-only by default and explicit approvals</a:t>
            </a:r>
            <a:br/>
            <a:br/>
            <a:r>
              <a:t>Measure: On-time tasks · reopen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Close orchestration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Coordinate tasks, owners, evidence and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Read-only by default and explicit approvals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Unapproved journal or sign-off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On-time tasks · reopen rate   •   Pattern source: Microsoft scenario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Bring ERP context into Outlook and prepare response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Scalable outreach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Automated external message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Human approval and communication log</a:t>
            </a:r>
            <a:br/>
            <a:br/>
            <a:r>
              <a:t>Measure: DSO · response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copilot: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Bring ERP context into Outlook and prepare response options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Human approval and communication 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Automated external message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DSO · response rate   •   Pattern source: Microsoft Finance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Procure-to-pay exception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FINANCE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Gather missing evidence and route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queue ageing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Tool abuse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Whitelisted actions and amount thresholds</a:t>
            </a:r>
            <a:br/>
            <a:br/>
            <a:r>
              <a:t>Measure: Resolution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Procure-to-pay exception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Gather missing evidence and route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Whitelisted actions and amount thresholds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Tool abuse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Resolution time   •   Pattern source: Microsoft Copilot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Tax research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Retrieve internal positions and authoritative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Outdated or cross-jurisdiction advice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Jurisdiction filters, effective dates, expert review</a:t>
            </a:r>
            <a:br/>
            <a:br/>
            <a:r>
              <a:t>Measure: Research time · citation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Tax research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Retrieve internal positions and authoritative guidance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Jurisdiction filters, effective dates, expert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Outdated or cross-jurisdiction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Research time · citation quality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Audit evidence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Index, retrieve and summarise evidence for test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search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incompleteness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IDs and auditor judgement</a:t>
            </a:r>
            <a:br/>
            <a:br/>
            <a:r>
              <a:t>Measure: Retrieval precision ·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Audit evidence assistant: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Index, retrieve and summarise evidence for test procedures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IDs and auditor judgement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incompleteness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Retrieval precision · gaps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Disclosure checklist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approved disclosures to evidence and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omissions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Wrong reporting basis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Controlled checklist and preparer/reviewer</a:t>
            </a:r>
            <a:br/>
            <a:br/>
            <a:r>
              <a:t>Measure: Open items · late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Disclosure checklist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approved disclosures to evidence and 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Controlled checklist and preparer/reviewer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Wrong reporting basis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Open items · late changes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Investment research multi-agent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retrieval, financial analysis, risk challenge and 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Traceable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Compounding agent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Handoff schemas and independent challenge</a:t>
            </a:r>
            <a:br/>
            <a:br/>
            <a:r>
              <a:t>Measure: Citation accuracy · disagreement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Investment research multi-agent: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retrieval, financial analysis, risk challenge and writing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Handoff schemas and independent challenge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Compounding agent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Citation accuracy · disagreement rate   •   Pattern source: Databricks investment assistant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Customer service banking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RETAIL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product and service questions using approved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24/7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Unsuitable advice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Scope limits and human handoff</a:t>
            </a:r>
            <a:br/>
            <a:br/>
            <a:r>
              <a:t>Measure: Containment · complaints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Customer service banking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product and service questions using approved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Scope limits and human handoff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Unsuitable advice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Containment · complaints   •   Pattern source: OCBC legacy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Loan document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covenants, conditions and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Missed clauses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Clause-level citations and legal review</a:t>
            </a:r>
            <a:br/>
            <a:br/>
            <a:r>
              <a:t>Measure: Review time · missed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Loan document review: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covenants, conditions and exceptions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Clause-level citations and legal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Missed clauses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Review time · missed exceptions   •   Pattern source: JPMorgan COiN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query management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Finance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Microsoft's scenario library uses Copilot Studio to answer internal finance process questions from custom integrations and approved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Collections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 agent combines customer and ERP context with drafted communication while retaining human accountability for external contact.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Balance-sheet reconciliation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 agent pattern accelerates matching, exception analysis and close evidence without removing reviewer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Topic 3 · value-and-control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6" y="178308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03911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6" y="2496312"/>
            <a:ext cx="3017520" cy="8961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magnitude, exceptions and trend before generating a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7764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23367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the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4690872"/>
            <a:ext cx="3017520" cy="121615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source totals, verify units and distinguish fact from hypothesis.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5 · Create a Microsoft 365 Finance Decision Pack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CFO needs a board-ready summary and a draft response to a major overdue customer.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90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Turn approved Excel evidence into a controlled Word brief, PowerPoint story and collections message.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three-part decision pack with traceable numbers and approval status.</a:t>
            </a:r>
            <a:br/>
            <a:br/>
            <a:r>
              <a:t>Acceptance: All repeated figures match the source workbook; facts and recommendations are separated; the external message remains a draft with an approver.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5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Verify the approved KPI and collections tables in the workbook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Microsoft 365 Copilot to draft a Word decision brief with source labels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 concise PowerPoint narrative using only approved figures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Draft an Outlook collections message that reflects account history and policy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Mark the message as draft and route it for human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140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6 · Build a Grounded Finance Query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Finance staff need reliable answers about expenses, close deadlines, delegation and reconciliation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150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and test a Copilot Studio agent grounded on approved finance policies.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finance query agent, knowledge pack, test evidence and escalation design.</a:t>
            </a:r>
            <a:br/>
            <a:br/>
            <a:r>
              <a:t>Acceptance: The agent cites approved sources, refuses unsupported answers, respects access boundaries and passes all critical UAT cases before any publish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141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6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the supplied policy knowledge files and identify effective dates and owners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the agent in a governed development environment and require authentication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Write instructions that constrain answers to approved knowledge and require citations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Add a deterministic escalation topic for missing or conflicting policy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Run the positive, negative, stale-source and unauthorised-user tests in the UAT workbook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142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7 · Design and UAT a Multi-Agent Close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Northstar wants reconciliation, variance and disclosure agents coordinated by a close supervisor without autonomous journal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150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Design a supervisor and specialist-agent workflow with structured handoffs and approval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 agent architecture, handoff contract, RACI, UAT results and rollback plan.</a:t>
            </a:r>
            <a:br/>
            <a:br/>
            <a:r>
              <a:t>Acceptance: No agent can approve or post a journal; every handoff is structured; critical tests pass; monitoring and rollback have named owners.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143</a:t>
            </a:r>
          </a:p>
        </p:txBody>
      </p:sp>
    </p:spTree>
  </p:cSld>
  <p:clrMapOvr>
    <a:masterClrMapping/>
  </p:clrMapOvr>
  <p:transition spd="slow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7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the current close process and select bounded tasks for each specialist 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the supervisor's orchestration rules and human approval points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Complete the handoff schema for task, source IDs, result, confidence and exceptions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Configure or prototype the flow in Copilot Studio using read-only tools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Execute happy-path, missing-data, tool-failure and approval-bypass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144</a:t>
            </a:r>
          </a:p>
        </p:txBody>
      </p:sp>
    </p:spTree>
  </p:cSld>
  <p:clrMapOvr>
    <a:masterClrMapping/>
  </p:clrMapOvr>
  <p:transition spd="slow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1">
                <a:solidFill>
                  <a:srgbClr val="DFF5F5"/>
                </a:solidFill>
                <a:latin typeface="Aptos"/>
              </a:defRPr>
            </a:pPr>
            <a:r>
              <a:t>TOPIC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AI Risk Management, Security and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3327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0">
                <a:solidFill>
                  <a:srgbClr val="D9ECFF"/>
                </a:solidFill>
                <a:latin typeface="Aptos"/>
              </a:defRPr>
            </a:pPr>
            <a:r>
              <a:t>FEAT, model risk, cyber threats, identity, DLP, fraud analytics, monitoring and human oversight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484632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892040"/>
            <a:ext cx="5029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Competency focus  K3 ·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145</a:t>
            </a:r>
          </a:p>
        </p:txBody>
      </p:sp>
    </p:spTree>
  </p:cSld>
  <p:clrMapOvr>
    <a:masterClrMapping/>
  </p:clrMapOvr>
  <p:transition spd="slow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AI risk taxonomy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AI risk spans data, model, cyber, compliance, third-party and human use.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Data quality and leakage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Bias, hallucination and drift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Prompt injection and tool abuse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Accountability and consumer harm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146</a:t>
            </a:r>
          </a:p>
        </p:txBody>
      </p:sp>
    </p:spTree>
  </p:cSld>
  <p:clrMapOvr>
    <a:masterClrMapping/>
  </p:clrMapOvr>
  <p:transition spd="slow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FEAT principles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Fairness, Ethics, Accountability and Transparency form a practical finance governance lens.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Fair treatment and representative testing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Ethical purpose and proportionality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Named owners and challenge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Understandable evidence and disclosure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147</a:t>
            </a:r>
          </a:p>
        </p:txBody>
      </p:sp>
    </p:spTree>
  </p:cSld>
  <p:clrMapOvr>
    <a:masterClrMapping/>
  </p:clrMapOvr>
  <p:transition spd="slow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Financial Services AI RMF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Govern, map, measure and manage must be adapted to operational and consumer impact.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Govern accountability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use and context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Measure performance and harm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Manage controls and residual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148</a:t>
            </a:r>
          </a:p>
        </p:txBody>
      </p:sp>
    </p:spTree>
  </p:cSld>
  <p:clrMapOvr>
    <a:masterClrMapping/>
  </p:clrMapOvr>
  <p:transition spd="slow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 system inventory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You cannot govern finance AI that has no owner, data map or deployment record.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Business purpose and tier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and provider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Data and connectors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Owner, reviewer and renewal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149</a:t>
            </a:r>
          </a:p>
        </p:txBody>
      </p:sp>
    </p:spTree>
  </p:cSld>
  <p:clrMapOvr>
    <a:masterClrMapping/>
  </p:clrMapOvr>
  <p:transition spd="slow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Risk tiering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Control intensity should rise with autonomy, data sensitivity and decision impact.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Low: drafting and summarisation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Moderate: analysis and recommendations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High: material or customer-impact decisions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Prohibited: uncontrolled sensitive-data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150</a:t>
            </a:r>
          </a:p>
        </p:txBody>
      </p:sp>
    </p:spTree>
  </p:cSld>
  <p:clrMapOvr>
    <a:masterClrMapping/>
  </p:clrMapOvr>
  <p:transition spd="slow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Prompt injection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Untrusted content can manipulate an agent into ignoring instructions or exfiltrating data.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Treat retrieved content as data, not authority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Filter and segment sources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Constrain tools independently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adversarial instructions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151</a:t>
            </a:r>
          </a:p>
        </p:txBody>
      </p:sp>
    </p:spTree>
  </p:cSld>
  <p:clrMapOvr>
    <a:masterClrMapping/>
  </p:clrMapOvr>
  <p:transition spd="slow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Data poisoning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Corrupted training or grounding data can create persistent and plausible errors.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Track data lineage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Validate source integrity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maker from approver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unexpected distribution shifts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152</a:t>
            </a:r>
          </a:p>
        </p:txBody>
      </p:sp>
    </p:spTree>
  </p:cSld>
  <p:clrMapOvr>
    <a:masterClrMapping/>
  </p:clrMapOvr>
  <p:transition spd="slow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Sensitive-data leakage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prompts can expose payroll, customer, transaction or strategy data.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Classify and minimise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DLP and sensitivity labels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Restrict public knowledge sources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Log and investigate risky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153</a:t>
            </a:r>
          </a:p>
        </p:txBody>
      </p:sp>
    </p:spTree>
  </p:cSld>
  <p:clrMapOvr>
    <a:masterClrMapping/>
  </p:clrMapOvr>
  <p:transition spd="slow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Identity and access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Agent permissions should never exceed the speaking user's authorised finance access.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Entra authentication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Conditional Access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Role-based permissions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Periodic access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154</a:t>
            </a:r>
          </a:p>
        </p:txBody>
      </p:sp>
    </p:spTree>
  </p:cSld>
  <p:clrMapOvr>
    <a:masterClrMapping/>
  </p:clrMapOvr>
  <p:transition spd="slow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Third-party risk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AI providers concentrate operational, data, model and exit risk.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Due diligence and contract terms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Data-use and retention controls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Resilience and incident notification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Portability and exit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155</a:t>
            </a:r>
          </a:p>
        </p:txBody>
      </p:sp>
    </p:spTree>
  </p:cSld>
  <p:clrMapOvr>
    <a:masterClrMapping/>
  </p:clrMapOvr>
  <p:transition spd="slow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Model risk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Performance evidence must match the intended finance decision and operating conditions.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Independent validation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Benchmark and challenger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Limitations and use restrictions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Monitoring and revalidation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156</a:t>
            </a:r>
          </a:p>
        </p:txBody>
      </p:sp>
    </p:spTree>
  </p:cSld>
  <p:clrMapOvr>
    <a:masterClrMapping/>
  </p:clrMapOvr>
  <p:transition spd="slow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Hallucination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Fluent text is not evidence; high-impact claims need retrieval and reconciliation.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 citations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Constrain to known sources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Verify numbers independently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Escalate missing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157</a:t>
            </a:r>
          </a:p>
        </p:txBody>
      </p:sp>
    </p:spTree>
  </p:cSld>
  <p:clrMapOvr>
    <a:masterClrMapping/>
  </p:clrMapOvr>
  <p:transition spd="slow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Fraud detection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Fraud AI combines behavioural features, probabilistic scores and investigator feedback.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Ingest and clean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Engineer temporal and entity features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and prioritise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Investigate, label and retrain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158</a:t>
            </a:r>
          </a:p>
        </p:txBody>
      </p:sp>
    </p:spTree>
  </p:cSld>
  <p:clrMapOvr>
    <a:masterClrMapping/>
  </p:clrMapOvr>
  <p:transition spd="slow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Class imbalance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High accuracy can hide a model that misses nearly every fraud case.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precision and recall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Inspect PR-AUC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Tune threshold to business cost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Stratify evaluation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159</a:t>
            </a:r>
          </a:p>
        </p:txBody>
      </p:sp>
    </p:spTree>
  </p:cSld>
  <p:clrMapOvr>
    <a:masterClrMapping/>
  </p:clrMapOvr>
  <p:transition spd="slow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Confusion-matrix economics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False positives create friction; false negatives create loss and harm.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Quantify review cost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Quantify expected fraud loss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Choose threshold with capacity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segment-level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160</a:t>
            </a:r>
          </a:p>
        </p:txBody>
      </p:sp>
    </p:spTree>
  </p:cSld>
  <p:clrMapOvr>
    <a:masterClrMapping/>
  </p:clrMapOvr>
  <p:transition spd="slow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Explainability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needs reasons suitable for reviewers, customers and regulators.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Global feature importance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Local reason codes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Counterfactual or sensitivity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Plain-language limitation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161</a:t>
            </a:r>
          </a:p>
        </p:txBody>
      </p:sp>
    </p:spTree>
  </p:cSld>
  <p:clrMapOvr>
    <a:masterClrMapping/>
  </p:clrMapOvr>
  <p:transition spd="slow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Fraud alert narrative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Generation adds value after detection by assembling evidence into a controlled case summary.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Why it is unusual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and model score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Recommended next action and approver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162</a:t>
            </a:r>
          </a:p>
        </p:txBody>
      </p:sp>
    </p:spTree>
  </p:cSld>
  <p:clrMapOvr>
    <a:masterClrMapping/>
  </p:clrMapOvr>
  <p:transition spd="slow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Monitoring and drift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Fraud tactics, populations and economic conditions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Track precision and recall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feature distributions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Capture investigator outcomes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Retrain through approved change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163</a:t>
            </a:r>
          </a:p>
        </p:txBody>
      </p:sp>
    </p:spTree>
  </p:cSld>
  <p:clrMapOvr>
    <a:masterClrMapping/>
  </p:clrMapOvr>
  <p:transition spd="slow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Copilot Studio DLP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Data policies separate business, non-business and blocked connectors.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Prevent risky connector combinations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Block unauthenticated channels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Restrict knowledge sources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Enforce policies in real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164</a:t>
            </a:r>
          </a:p>
        </p:txBody>
      </p:sp>
    </p:spTree>
  </p:cSld>
  <p:clrMapOvr>
    <a:masterClrMapping/>
  </p:clrMapOvr>
  <p:transition spd="slow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Security-by-design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An agent should not publish until identity, data, tools, testing and monitoring are approved.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Threat model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DLP and access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UAT and adversarial tests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Owner, runbook and 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165</a:t>
            </a:r>
          </a:p>
        </p:txBody>
      </p:sp>
    </p:spTree>
  </p:cSld>
  <p:clrMapOvr>
    <a:masterClrMapping/>
  </p:clrMapOvr>
  <p:transition spd="slow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Card fraud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transactions using behaviour, merchant and device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fraud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positives and model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Threshold economics and investigator feedback</a:t>
            </a:r>
            <a:br/>
            <a:br/>
            <a:r>
              <a:t>Measure: Recall · precision ·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166</a:t>
            </a:r>
          </a:p>
        </p:txBody>
      </p:sp>
    </p:spTree>
  </p:cSld>
  <p:clrMapOvr>
    <a:masterClrMapping/>
  </p:clrMapOvr>
  <p:transition spd="slow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Card fraud detection: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transactions using behaviour, merchant and device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Threshold economics and investigator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positives and model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Recall · precision · loss   •   Pattern source: Mastercard reported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167</a:t>
            </a:r>
          </a:p>
        </p:txBody>
      </p:sp>
    </p:spTree>
  </p:cSld>
  <p:clrMapOvr>
    <a:masterClrMapping/>
  </p:clrMapOvr>
  <p:transition spd="slow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AML investigation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transactions, entities and evidence into a case narrative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investigation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Privacy and confirmation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links and investigator approval</a:t>
            </a:r>
            <a:br/>
            <a:br/>
            <a:r>
              <a:t>Measure: Case time · SAR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168</a:t>
            </a:r>
          </a:p>
        </p:txBody>
      </p:sp>
    </p:spTree>
  </p:cSld>
  <p:clrMapOvr>
    <a:masterClrMapping/>
  </p:clrMapOvr>
  <p:transition spd="slow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AML investigation summarisation: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transactions, entities and evidence into a case narrative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links and investigator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Privacy and confirmation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Case time · SAR quality   •   Pattern source: US Treasury AI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169</a:t>
            </a:r>
          </a:p>
        </p:txBody>
      </p:sp>
    </p:spTree>
  </p:cSld>
  <p:clrMapOvr>
    <a:masterClrMapping/>
  </p:clrMapOvr>
  <p:transition spd="slow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Account takeover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CYBER 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Detect device, location and behavioural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containment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Customer friction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Step-up verification and risk thresholds</a:t>
            </a:r>
            <a:br/>
            <a:br/>
            <a:r>
              <a:t>Measure: Fraud loss · challenge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170</a:t>
            </a:r>
          </a:p>
        </p:txBody>
      </p:sp>
    </p:spTree>
  </p:cSld>
  <p:clrMapOvr>
    <a:masterClrMapping/>
  </p:clrMapOvr>
  <p:transition spd="slow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Account takeover detection: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Detect device, location and behavioural anomalies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Step-up verification and risk thresholds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Customer friction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Fraud loss · challenge rate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171</a:t>
            </a:r>
          </a:p>
        </p:txBody>
      </p:sp>
    </p:spTree>
  </p:cSld>
  <p:clrMapOvr>
    <a:masterClrMapping/>
  </p:clrMapOvr>
  <p:transition spd="slow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Synthetic fraud scenario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FRAUD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rare attack patterns for resilience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Broader test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Unrealistic or unsafe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Domain review and isolated test data</a:t>
            </a:r>
            <a:br/>
            <a:br/>
            <a:r>
              <a:t>Measure: Scenario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172</a:t>
            </a:r>
          </a:p>
        </p:txBody>
      </p:sp>
    </p:spTree>
  </p:cSld>
  <p:clrMapOvr>
    <a:masterClrMapping/>
  </p:clrMapOvr>
  <p:transition spd="slow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Synthetic fraud scenario generation: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rare attack patterns for resilience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Domain review and isolated test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Unrealistic or unsafe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Scenario coverage   •   Pattern source: US Treasury cyber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173</a:t>
            </a:r>
          </a:p>
        </p:txBody>
      </p:sp>
    </p:spTree>
  </p:cSld>
  <p:clrMapOvr>
    <a:masterClrMapping/>
  </p:clrMapOvr>
  <p:transition spd="slow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Model documentation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MODEL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Draft model cards, limitations and monitoring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Consistent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completeness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Required fields and independent validation</a:t>
            </a:r>
            <a:br/>
            <a:br/>
            <a:r>
              <a:t>Measure: Documentation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174</a:t>
            </a:r>
          </a:p>
        </p:txBody>
      </p:sp>
    </p:spTree>
  </p:cSld>
  <p:clrMapOvr>
    <a:masterClrMapping/>
  </p:clrMapOvr>
  <p:transition spd="slow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Model documentation copilot: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Draft model cards, limitations and monitoring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Required fields and independent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False completeness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Documentation defects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175</a:t>
            </a:r>
          </a:p>
        </p:txBody>
      </p:sp>
    </p:spTree>
  </p:cSld>
  <p:clrMapOvr>
    <a:masterClrMapping/>
  </p:clrMapOvr>
  <p:transition spd="slow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Policy compliance monitor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agent configuration with approved control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Earlier control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Blind spots in telemetry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Configuration inventory and periodic review</a:t>
            </a:r>
            <a:br/>
            <a:br/>
            <a:r>
              <a:t>Measure: Control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176</a:t>
            </a:r>
          </a:p>
        </p:txBody>
      </p:sp>
    </p:spTree>
  </p:cSld>
  <p:clrMapOvr>
    <a:masterClrMapping/>
  </p:clrMapOvr>
  <p:transition spd="slow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Policy compliance monitor: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agent configuration with approved control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Configuration inventory and periodic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Blind spots in 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Control exceptions   •   Pattern source: Microsoft Copilot Control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177</a:t>
            </a:r>
          </a:p>
        </p:txBody>
      </p:sp>
    </p:spTree>
  </p:cSld>
  <p:clrMapOvr>
    <a:masterClrMapping/>
  </p:clrMapOvr>
  <p:transition spd="slow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Prompt-injection test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AI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and execute adversarial test cases in a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Stronger resilience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Unsafe testing against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Isolated environment and no live secrets</a:t>
            </a:r>
            <a:br/>
            <a:br/>
            <a:r>
              <a:t>Measure: Attack success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178</a:t>
            </a:r>
          </a:p>
        </p:txBody>
      </p:sp>
    </p:spTree>
  </p:cSld>
  <p:clrMapOvr>
    <a:masterClrMapping/>
  </p:clrMapOvr>
  <p:transition spd="slow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Prompt-injection test agent: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and execute adversarial test cases in a sandbox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Isolated environment and no live 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Unsafe testing against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Attack success rate   •   Pattern source: Microsoft Copilot Studio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179</a:t>
            </a:r>
          </a:p>
        </p:txBody>
      </p:sp>
    </p:spTree>
  </p:cSld>
  <p:clrMapOvr>
    <a:masterClrMapping/>
  </p:clrMapOvr>
  <p:transition spd="slow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Vendor AI due diligence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THIRD-PARTY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contracts, controls, data use and concentration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Reliance on vendor 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request and accountable approval</a:t>
            </a:r>
            <a:br/>
            <a:br/>
            <a:r>
              <a:t>Measure: Open risks ·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180</a:t>
            </a:r>
          </a:p>
        </p:txBody>
      </p:sp>
    </p:spTree>
  </p:cSld>
  <p:clrMapOvr>
    <a:masterClrMapping/>
  </p:clrMapOvr>
  <p:transition spd="slow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Vendor AI due diligence: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contracts, controls, data use and concentration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request and accountable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Reliance on vendor 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Open risks · remediation   •   Pattern source: US Treasury AI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181</a:t>
            </a:r>
          </a:p>
        </p:txBody>
      </p:sp>
    </p:spTree>
  </p:cSld>
  <p:clrMapOvr>
    <a:masterClrMapping/>
  </p:clrMapOvr>
  <p:transition spd="slow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Cyber alert enrichment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threat intelligence and affected financial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Poisoned external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Trusted feeds and tool isolation</a:t>
            </a:r>
            <a:br/>
            <a:br/>
            <a:r>
              <a:t>Measure: MTTR · false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182</a:t>
            </a:r>
          </a:p>
        </p:txBody>
      </p:sp>
    </p:spTree>
  </p:cSld>
  <p:clrMapOvr>
    <a:masterClrMapping/>
  </p:clrMapOvr>
  <p:transition spd="slow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Cyber alert enrichment: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threat intelligence and affected financial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Trusted feeds and tool isolation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Poisoned external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MTTR · false escalation   •   Pattern source: US Treasury cyber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183</a:t>
            </a:r>
          </a:p>
        </p:txBody>
      </p:sp>
    </p:spTree>
  </p:cSld>
  <p:clrMapOvr>
    <a:masterClrMapping/>
  </p:clrMapOvr>
  <p:transition spd="slow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Fair lending monitoring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CREDIT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model outcomes and explanations across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bias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Sensitive attribute misuse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Governed fairness testing and remediation</a:t>
            </a:r>
            <a:br/>
            <a:br/>
            <a:r>
              <a:t>Measure: Disparity · override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184</a:t>
            </a:r>
          </a:p>
        </p:txBody>
      </p:sp>
    </p:spTree>
  </p:cSld>
  <p:clrMapOvr>
    <a:masterClrMapping/>
  </p:clrMapOvr>
  <p:transition spd="slow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Fair lending monitoring: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model outcomes and explanations across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Governed fairness testing and remediation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Sensitive attribute misuse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Disparity · override rate   •   Pattern source: FEAT / model risk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185</a:t>
            </a:r>
          </a:p>
        </p:txBody>
      </p:sp>
    </p:spTree>
  </p:cSld>
  <p:clrMapOvr>
    <a:masterClrMapping/>
  </p:clrMapOvr>
  <p:transition spd="slow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Mastercard fraud intelligence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reported GenAI-enhanced fraud model analyses transaction and device context to support suspicious-transaction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186</a:t>
            </a:r>
          </a:p>
        </p:txBody>
      </p:sp>
    </p:spTree>
  </p:cSld>
  <p:clrMapOvr>
    <a:masterClrMapping/>
  </p:clrMapOvr>
  <p:transition spd="slow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Standard Chartered security balance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Banking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real-world discussion of innovation with security reinforces layered controls, identity, monitoring and operational resilience.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187</a:t>
            </a:r>
          </a:p>
        </p:txBody>
      </p:sp>
    </p:spTree>
  </p:cSld>
  <p:clrMapOvr>
    <a:masterClrMapping/>
  </p:clrMapOvr>
  <p:transition spd="slow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US Treasury sector findings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Financial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Treasury highlights data poisoning, leakage, integrity, explainability, third-party concentration and cross-enterprise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188</a:t>
            </a:r>
          </a:p>
        </p:txBody>
      </p:sp>
    </p:spTree>
  </p:cSld>
  <p:clrMapOvr>
    <a:masterClrMapping/>
  </p:clrMapOvr>
  <p:transition spd="slow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Topic 4 · value-and-control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6" y="178308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03911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6" y="2496312"/>
            <a:ext cx="3017520" cy="8961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magnitude, exceptions and trend before generating a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7764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23367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the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4690872"/>
            <a:ext cx="3017520" cy="121615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source totals, verify units and distinguish fact from hypothesis.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189</a:t>
            </a:r>
          </a:p>
        </p:txBody>
      </p:sp>
    </p:spTree>
  </p:cSld>
  <p:clrMapOvr>
    <a:masterClrMapping/>
  </p:clrMapOvr>
  <p:transition spd="slow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8 · Evaluate a Fraud Model and Alert Narrative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K3 ·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card issuer must reduce fraud loss without overwhelming investigators or blocking legitimate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150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Choose a fraud threshold using precision, recall, business cost and explainability.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threshold decision, confusion matrix, alert queue and controlled case narrative.</a:t>
            </a:r>
            <a:br/>
            <a:br/>
            <a:r>
              <a:t>Acceptance: The threshold decision cites precision, recall, cost and capacity; alert explanations use real fields; the generated narrative is labelled draft and evidence-linked.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190</a:t>
            </a:r>
          </a:p>
        </p:txBody>
      </p:sp>
    </p:spTree>
  </p:cSld>
  <p:clrMapOvr>
    <a:masterClrMapping/>
  </p:clrMapOvr>
  <p:transition spd="slow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8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the synthetic scored transactions and feature definitions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Calculate confusion-matrix metrics at the supplied thresholds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Estimate false-positive review cost and false-negative fraud loss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Select a threshold that fits investigator capacity and risk appetite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Explain three alerts using evidence and limitations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191</a:t>
            </a:r>
          </a:p>
        </p:txBody>
      </p:sp>
    </p:spTree>
  </p:cSld>
  <p:clrMapOvr>
    <a:masterClrMapping/>
  </p:clrMapOvr>
  <p:transition spd="slow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9 · Threat-Model and Secure a Finance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K3 · 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finance query agent is proposed for wider deployment with SharePoint knowledge and workflow connectors.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120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Apply identity, DLP, prompt-injection, data, tool and monitoring controls to a finance agent.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threat model, control matrix, adversarial test log and publish recommendation.</a:t>
            </a:r>
            <a:br/>
            <a:br/>
            <a:r>
              <a:t>Acceptance: Every high risk has a preventive and detective control, test evidence, residual rating and accountable owner; no live credentials or customer data are used.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192</a:t>
            </a:r>
          </a:p>
        </p:txBody>
      </p:sp>
    </p:spTree>
  </p:cSld>
  <p:clrMapOvr>
    <a:masterClrMapping/>
  </p:clrMapOvr>
  <p:transition spd="slow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9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Inventory users, data, knowledge sources, tools and external dependencies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prompt injection, leakage, poisoning, tool abuse, identity and third-party threats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Assign preventive, detective and responsive controls using the control matrix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Classify connectors into business, non-business and blocked groups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Run the supplied adversarial prompts using synthetic data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193</a:t>
            </a:r>
          </a:p>
        </p:txBody>
      </p:sp>
    </p:spTree>
  </p:cSld>
  <p:clrMapOvr>
    <a:masterClrMapping/>
  </p:clrMapOvr>
  <p:transition spd="slow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274320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100" b="1">
                <a:solidFill>
                  <a:srgbClr val="DFF5F5"/>
                </a:solidFill>
                <a:latin typeface="Aptos"/>
              </a:defRPr>
            </a:pPr>
            <a:r>
              <a:t>TOPIC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2344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Future Trends and Innovations in Generative AI for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34640"/>
            <a:ext cx="103327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700" b="0">
                <a:solidFill>
                  <a:srgbClr val="D9ECFF"/>
                </a:solidFill>
                <a:latin typeface="Aptos"/>
              </a:defRPr>
            </a:pPr>
            <a:r>
              <a:t>Finance-agent roadmaps, cost controls, operating models, change leadership and measurable value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484632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731520" cy="73152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892040"/>
            <a:ext cx="50292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Competency focus  K4 · 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194</a:t>
            </a:r>
          </a:p>
        </p:txBody>
      </p:sp>
    </p:spTree>
  </p:cSld>
  <p:clrMapOvr>
    <a:masterClrMapping/>
  </p:clrMapOvr>
  <p:transition spd="slow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Finance-agent direction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AI is moving from isolated assistance to process-specific, governed agents.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Variance analysis actions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Reconciliation workflows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Collections assistance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ERP-grounded finance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195</a:t>
            </a:r>
          </a:p>
        </p:txBody>
      </p:sp>
    </p:spTree>
  </p:cSld>
  <p:clrMapOvr>
    <a:masterClrMapping/>
  </p:clrMapOvr>
  <p:transition spd="slow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Assistive to autonomous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Autonomy should expand only after templates, thresholds and monitoring are proven.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Assist in the moment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Save a repeatable template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Run as a bounded AI action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Retain review and exception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196</a:t>
            </a:r>
          </a:p>
        </p:txBody>
      </p:sp>
    </p:spTree>
  </p:cSld>
  <p:clrMapOvr>
    <a:masterClrMapping/>
  </p:clrMapOvr>
  <p:transition spd="slow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Operating-model shift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teams need product ownership for AI-enabled processes.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Business product owner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Finance control owner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Technology platform owner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Risk and compliance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197</a:t>
            </a:r>
          </a:p>
        </p:txBody>
      </p:sp>
    </p:spTree>
  </p:cSld>
  <p:clrMapOvr>
    <a:masterClrMapping/>
  </p:clrMapOvr>
  <p:transition spd="slow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 portfolio economics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Total cost includes licences, integration, data, review, controls and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Baseline current effort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run and capacity costs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and control costs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Benefits realised after adoption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198</a:t>
            </a:r>
          </a:p>
        </p:txBody>
      </p:sp>
    </p:spTree>
  </p:cSld>
  <p:clrMapOvr>
    <a:masterClrMapping/>
  </p:clrMapOvr>
  <p:transition spd="slow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Cost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Control cost by standardising platforms and reusing governed patterns.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Shared connectors and knowledge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Reusable evaluation sets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Tiered model choice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Usage budgets and showback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199</a:t>
            </a:r>
          </a:p>
        </p:txBody>
      </p:sp>
    </p:spTree>
  </p:cSld>
  <p:clrMapOvr>
    <a:masterClrMapping/>
  </p:clrMapOvr>
  <p:transition spd="slow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Business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defensible case links use, adoption, control and financial outcome.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Volume and unit effort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Adoption curve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 cost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Cash, capacity or risk 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200</a:t>
            </a:r>
          </a:p>
        </p:txBody>
      </p:sp>
    </p:spTree>
  </p:cSld>
  <p:clrMapOvr>
    <a:masterClrMapping/>
  </p:clrMapOvr>
  <p:transition spd="slow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Lewin for finance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Unfreeze, change and refreeze turns a pilot into a controlled operating habit.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Unfreeze with evidence and urgency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Change through pilots and training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Refreeze policies and metrics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Continue learning as technology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201</a:t>
            </a:r>
          </a:p>
        </p:txBody>
      </p:sp>
    </p:spTree>
  </p:cSld>
  <p:clrMapOvr>
    <a:masterClrMapping/>
  </p:clrMapOvr>
  <p:transition spd="slow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Pilot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Choose a process with clear data, measurable pain and reversible actions.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Known baseline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Available owner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Low-to-moderate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202</a:t>
            </a:r>
          </a:p>
        </p:txBody>
      </p:sp>
    </p:spTree>
  </p:cSld>
  <p:clrMapOvr>
    <a:masterClrMapping/>
  </p:clrMapOvr>
  <p:transition spd="slow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Scaling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A successful demo is not production readiness.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Security and compliance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Reliability and capacity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Support and incident response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Benefits and user adoption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203</a:t>
            </a:r>
          </a:p>
        </p:txBody>
      </p:sp>
    </p:spTree>
  </p:cSld>
  <p:clrMapOvr>
    <a:masterClrMapping/>
  </p:clrMapOvr>
  <p:transition spd="slow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Vendor roadmap discipline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Roadmap features are planning inputs, not current capabilities.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Verify release 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in your tenant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Document licensing and region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Avoid designing controls around previews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204</a:t>
            </a:r>
          </a:p>
        </p:txBody>
      </p:sp>
    </p:spTree>
  </p:cSld>
  <p:clrMapOvr>
    <a:masterClrMapping/>
  </p:clrMapOvr>
  <p:transition spd="slow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Workforce readiness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Finance professionals need AI literacy plus stronger judgement and control skills.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Prompt and data literacy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and challenge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Process redesign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Ethics and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205</a:t>
            </a:r>
          </a:p>
        </p:txBody>
      </p:sp>
    </p:spTree>
  </p:cSld>
  <p:clrMapOvr>
    <a:masterClrMapping/>
  </p:clrMapOvr>
  <p:transition spd="slow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Future-proof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Keep data, controls and process logic portable as models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Modular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Documented interfaces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Provider-independent evaluation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Exit and rollback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206</a:t>
            </a:r>
          </a:p>
        </p:txBody>
      </p:sp>
    </p:spTree>
  </p:cSld>
  <p:clrMapOvr>
    <a:masterClrMapping/>
  </p:clrMapOvr>
  <p:transition spd="slow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Measure realised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Track outcomes after launch, not only activity or token usage.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Cycle time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Quality and exception rate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Cash and risk outcomes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Adoption and satisfaction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207</a:t>
            </a:r>
          </a:p>
        </p:txBody>
      </p:sp>
    </p:spTree>
  </p:cSld>
  <p:clrMapOvr>
    <a:masterClrMapping/>
  </p:clrMapOvr>
  <p:transition spd="slow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Continuous governance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23A63"/>
                </a:solidFill>
                <a:latin typeface="Aptos"/>
              </a:defRPr>
            </a:pPr>
            <a:r>
              <a:t>Reassess AI use when data, models, regulations or business context change.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2487168"/>
            <a:ext cx="658368" cy="658368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2103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Periodic risk review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487168"/>
            <a:ext cx="658368" cy="658368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3246120"/>
            <a:ext cx="73152" cy="2103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Revalidation triggers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87168"/>
            <a:ext cx="658368" cy="65836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73152" cy="21031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Policy and inventory updates</a:t>
            </a:r>
          </a:p>
        </p:txBody>
      </p:sp>
      <p:sp>
        <p:nvSpPr>
          <p:cNvPr id="24" name="Oval 23"/>
          <p:cNvSpPr/>
          <p:nvPr/>
        </p:nvSpPr>
        <p:spPr>
          <a:xfrm>
            <a:off x="10104120" y="2487168"/>
            <a:ext cx="658368" cy="65836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487168"/>
            <a:ext cx="658368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246120"/>
            <a:ext cx="24231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3246120"/>
            <a:ext cx="73152" cy="2103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0616" y="3456432"/>
            <a:ext cx="20116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59352"/>
            <a:ext cx="2011679" cy="1280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Retirement of unused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208</a:t>
            </a:r>
          </a:p>
        </p:txBody>
      </p:sp>
    </p:spTree>
  </p:cSld>
  <p:clrMapOvr>
    <a:masterClrMapping/>
  </p:clrMapOvr>
  <p:transition spd="slow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AI use-case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initiatives on value, feasibility, risk and 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investment choices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Optimism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Stage gates and realised-benefit review</a:t>
            </a:r>
            <a:br/>
            <a:br/>
            <a:r>
              <a:t>Measure: NPV · adoption · risk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209</a:t>
            </a:r>
          </a:p>
        </p:txBody>
      </p:sp>
    </p:spTree>
  </p:cSld>
  <p:clrMapOvr>
    <a:masterClrMapping/>
  </p:clrMapOvr>
  <p:transition spd="slow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Finance AI use-case portfolio: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initiatives on value, feasibility, risk and 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Stage gates and realised-benefit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Optimism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NPV · adoption · risk tier   •   Pattern source: Microsoft business case scenario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210</a:t>
            </a:r>
          </a:p>
        </p:txBody>
      </p:sp>
    </p:spTree>
  </p:cSld>
  <p:clrMapOvr>
    <a:masterClrMapping/>
  </p:clrMapOvr>
  <p:transition spd="slow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Licence and capacity optimisation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FINOPS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Track agent usage and right-size licences or message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run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Under-provisioning critical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Service tiers and usage budgets</a:t>
            </a:r>
            <a:br/>
            <a:br/>
            <a:r>
              <a:t>Measure: Cost per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211</a:t>
            </a:r>
          </a:p>
        </p:txBody>
      </p:sp>
    </p:spTree>
  </p:cSld>
  <p:clrMapOvr>
    <a:masterClrMapping/>
  </p:clrMapOvr>
  <p:transition spd="slow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Licence and capacity optimisation: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Track agent usage and right-size licences or message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Service tiers and usage budgets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Under-provisioning critical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Cost per task   •   Pattern source: Microsoft governance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212</a:t>
            </a:r>
          </a:p>
        </p:txBody>
      </p:sp>
    </p:spTree>
  </p:cSld>
  <p:clrMapOvr>
    <a:masterClrMapping/>
  </p:clrMapOvr>
  <p:transition spd="slow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 factory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Reuse identity, knowledge, tool, evaluation and monitoring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safe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Agent sprawl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Catalogue, templates and retirement</a:t>
            </a:r>
            <a:br/>
            <a:br/>
            <a:r>
              <a:t>Measure: Lead time ·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213</a:t>
            </a:r>
          </a:p>
        </p:txBody>
      </p:sp>
    </p:spTree>
  </p:cSld>
  <p:clrMapOvr>
    <a:masterClrMapping/>
  </p:clrMapOvr>
  <p:transition spd="slow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Agent factory: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Reuse identity, knowledge, tool, evaluation and monitoring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Catalogue, templates and retirement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Agent sprawl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Lead time · reuse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214</a:t>
            </a:r>
          </a:p>
        </p:txBody>
      </p:sp>
    </p:spTree>
  </p:cSld>
  <p:clrMapOvr>
    <a:masterClrMapping/>
  </p:clrMapOvr>
  <p:transition spd="slow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AI-enabled finance operating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CFO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product, control, data and platform ownership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Sustainable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Ambiguous accountability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RACI and lifecycle governance</a:t>
            </a:r>
            <a:br/>
            <a:br/>
            <a:r>
              <a:t>Measure: Incidents · release 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215</a:t>
            </a:r>
          </a:p>
        </p:txBody>
      </p:sp>
    </p:spTree>
  </p:cSld>
  <p:clrMapOvr>
    <a:masterClrMapping/>
  </p:clrMapOvr>
  <p:transition spd="slow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AI-enabled finance operating model: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product, control, data and platform ownership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RACI and lifecycle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Ambiguous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Incidents · release lead time   •   Pattern source: Financial Services AI RMF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216</a:t>
            </a:r>
          </a:p>
        </p:txBody>
      </p:sp>
    </p:spTree>
  </p:cSld>
  <p:clrMapOvr>
    <a:masterClrMapping/>
  </p:clrMapOvr>
  <p:transition spd="slow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process modernisation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FINANCE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agents to bridge old workflows while redesigning the target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transition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Permanent fragile workarounds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Sunset plan and architecture review</a:t>
            </a:r>
            <a:br/>
            <a:br/>
            <a:r>
              <a:t>Measure: Retired steps ·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217</a:t>
            </a:r>
          </a:p>
        </p:txBody>
      </p:sp>
    </p:spTree>
  </p:cSld>
  <p:clrMapOvr>
    <a:masterClrMapping/>
  </p:clrMapOvr>
  <p:transition spd="slow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process modernisation: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agents to bridge old workflows while redesigning the target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Sunset plan and architecture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Permanent fragile workarounds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Retired steps · defects   •   Pattern source: Databricks finance outlook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218</a:t>
            </a:r>
          </a:p>
        </p:txBody>
      </p:sp>
    </p:spTree>
  </p:cSld>
  <p:clrMapOvr>
    <a:masterClrMapping/>
  </p:clrMapOvr>
  <p:transition spd="slow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Continuous controls monitoring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CONTROLLERSHIP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control evidence and exceptions across the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Earlier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Alert fatigue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and owner workflows</a:t>
            </a:r>
            <a:br/>
            <a:br/>
            <a:r>
              <a:t>Measure: Exception 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219</a:t>
            </a:r>
          </a:p>
        </p:txBody>
      </p:sp>
    </p:spTree>
  </p:cSld>
  <p:clrMapOvr>
    <a:masterClrMapping/>
  </p:clrMapOvr>
  <p:transition spd="slow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Continuous controls monitoring: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control evidence and exceptions across the period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and owner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Alert fatigue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Exception closure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220</a:t>
            </a:r>
          </a:p>
        </p:txBody>
      </p:sp>
    </p:spTree>
  </p:cSld>
  <p:clrMapOvr>
    <a:masterClrMapping/>
  </p:clrMapOvr>
  <p:transition spd="slow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Digital finance coach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WORKFORCE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Deliver role-based guidance using approved internal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adoption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Curated knowledge and feedback</a:t>
            </a:r>
            <a:br/>
            <a:br/>
            <a:r>
              <a:t>Measure: Adoption · competency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221</a:t>
            </a:r>
          </a:p>
        </p:txBody>
      </p:sp>
    </p:spTree>
  </p:cSld>
  <p:clrMapOvr>
    <a:masterClrMapping/>
  </p:clrMapOvr>
  <p:transition spd="slow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Digital finance coach: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Deliver role-based guidance using approved internal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Curated knowledge and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Incorrect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Adoption · competency   •   Pattern source: Industry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222</a:t>
            </a:r>
          </a:p>
        </p:txBody>
      </p:sp>
    </p:spTree>
  </p:cSld>
  <p:clrMapOvr>
    <a:masterClrMapping/>
  </p:clrMapOvr>
  <p:transition spd="slow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FINANCE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 investment committee pack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Operating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Combine value, risk, cost and readiness evidence for gate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1965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Value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Disciplined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8862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3886200"/>
            <a:ext cx="73152" cy="19659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4069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325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Primary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782312"/>
            <a:ext cx="2926079" cy="94183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Metric gaming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3703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73152" cy="4251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GOVERNED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and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496312"/>
            <a:ext cx="3291839" cy="32278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Independent challenge and post-investment review</a:t>
            </a:r>
            <a:br/>
            <a:br/>
            <a:r>
              <a:t>Measure: Benefits realised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223</a:t>
            </a:r>
          </a:p>
        </p:txBody>
      </p:sp>
    </p:spTree>
  </p:cSld>
  <p:clrMapOvr>
    <a:masterClrMapping/>
  </p:clrMapOvr>
  <p:transition spd="slow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USE CASE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AI investment committee pack: control cockpit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dated business event enters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1" y="1600200"/>
            <a:ext cx="73152" cy="3429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Combine value, risk, cost and readiness evidence for gate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00200"/>
            <a:ext cx="73152" cy="3429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Independent challenge and post-investment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00200"/>
            <a:ext cx="25146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600200"/>
            <a:ext cx="73152" cy="34290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21305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D6454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39112"/>
            <a:ext cx="21031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Exception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96312"/>
            <a:ext cx="2103120" cy="240487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Metric gaming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88136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100" b="1">
                <a:solidFill>
                  <a:srgbClr val="123A63"/>
                </a:solidFill>
                <a:latin typeface="Aptos"/>
              </a:defRPr>
            </a:pPr>
            <a:r>
              <a:t>KPI  Benefits realised   •   Pattern source: Financial Services AI RMF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224</a:t>
            </a:r>
          </a:p>
        </p:txBody>
      </p:sp>
    </p:spTree>
  </p:cSld>
  <p:clrMapOvr>
    <a:masterClrMapping/>
  </p:clrMapOvr>
  <p:transition spd="slow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Financial Services AI RMF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45920"/>
            <a:ext cx="2514600" cy="3520440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148840"/>
            <a:ext cx="1143000" cy="11430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143000" cy="11430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2057400" cy="5486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8046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0574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28800"/>
            <a:ext cx="76626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084832"/>
            <a:ext cx="763524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542032"/>
            <a:ext cx="7635240" cy="10332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2026 framework adapts NIST AI RMF to financial-services operational, regulatory and consumer-protection considerations.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9319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93192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142232"/>
            <a:ext cx="34290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Transferable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645152"/>
            <a:ext cx="34290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operating pattern—not the headline—into your finance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3886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393192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4142232"/>
            <a:ext cx="34747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645152"/>
            <a:ext cx="347472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What evidence would justify moving from assistive output to a bounded action?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225</a:t>
            </a:r>
          </a:p>
        </p:txBody>
      </p:sp>
    </p:spTree>
  </p:cSld>
  <p:clrMapOvr>
    <a:masterClrMapping/>
  </p:clrMapOvr>
  <p:transition spd="slow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Topic 5 · value-and-control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00200"/>
          <a:ext cx="69494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0020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6" y="178308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03911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 the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6" y="2496312"/>
            <a:ext cx="3017520" cy="8961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magnitude, exceptions and trend before generating a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9476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794760"/>
            <a:ext cx="73152" cy="2240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77640"/>
            <a:ext cx="304495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233672"/>
            <a:ext cx="301752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Control the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4690872"/>
            <a:ext cx="3017520" cy="121615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source totals, verify units and distinguish fact from hypothesis.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226</a:t>
            </a:r>
          </a:p>
        </p:txBody>
      </p:sp>
    </p:spTree>
  </p:cSld>
  <p:clrMapOvr>
    <a:masterClrMapping/>
  </p:clrMapOvr>
  <p:transition spd="slow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APPLIED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10 · Build the Finance AI Business Case and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42062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K4 · A5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The investment committee must decide whether to scale the Northstar finance AI portfolio after the pilots.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00200"/>
            <a:ext cx="33375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600200"/>
            <a:ext cx="73152" cy="42062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295351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150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039112"/>
            <a:ext cx="292607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496312"/>
            <a:ext cx="292607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 stage-gated adoption roadmap with total-cost, benefit, risk and cash-flow controls.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0200"/>
            <a:ext cx="3703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600200"/>
            <a:ext cx="73152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783080"/>
            <a:ext cx="331927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039112"/>
            <a:ext cx="32918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496312"/>
            <a:ext cx="3291839" cy="318211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 12-month roadmap, cash-flow model, NPV, stage gates and benefits-realisation scorecard.</a:t>
            </a:r>
            <a:br/>
            <a:br/>
            <a:r>
              <a:t>Acceptance: Costs include build, run, control and change; benefits are adoption-adjusted; NPV links to cash-flow cells; each stage gate has evidence, owner and stop condition.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227</a:t>
            </a:r>
          </a:p>
        </p:txBody>
      </p:sp>
    </p:spTree>
  </p:cSld>
  <p:clrMapOvr>
    <a:masterClrMapping/>
  </p:clrMapOvr>
  <p:transition spd="slow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LAB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Lab 10 · evidence journey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94360" y="2148840"/>
            <a:ext cx="777240" cy="777240"/>
          </a:xfrm>
          <a:prstGeom prst="ellipse">
            <a:avLst/>
          </a:prstGeom>
          <a:solidFill>
            <a:srgbClr val="14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73152" cy="160020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Baseline volumes, effort, quality and cash outcomes from the supplied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2148840"/>
            <a:ext cx="777240" cy="77724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154680"/>
            <a:ext cx="73152" cy="16002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5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Estimate licence, integration, data, control, change and run costs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18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66360" y="2148840"/>
            <a:ext cx="777240" cy="77724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3154680"/>
            <a:ext cx="73152" cy="1600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adoption, benefit ramp, downside and termination scenarios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04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452360" y="214884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3154680"/>
            <a:ext cx="73152" cy="1600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3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Calculate monthly net cash flow, cumulative cash and NPV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017520"/>
            <a:ext cx="274320" cy="0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2148840"/>
            <a:ext cx="77724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154680"/>
            <a:ext cx="1920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73152" cy="16002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9216" y="3364992"/>
            <a:ext cx="150876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9216" y="3867912"/>
            <a:ext cx="1508760" cy="7772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stage gates for security, reliability, adoption and realised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500" b="1">
                <a:solidFill>
                  <a:srgbClr val="123A63"/>
                </a:solidFill>
                <a:latin typeface="Aptos"/>
              </a:defRPr>
            </a:pPr>
            <a:r>
              <a:t>Accountability and evidence travel with the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228</a:t>
            </a:r>
          </a:p>
        </p:txBody>
      </p:sp>
    </p:spTree>
  </p:cSld>
  <p:clrMapOvr>
    <a:masterClrMapping/>
  </p:clrMapOvr>
  <p:transition spd="slow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Automated accounts payable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229</a:t>
            </a:r>
          </a:p>
        </p:txBody>
      </p:sp>
    </p:spTree>
  </p:cSld>
  <p:clrMapOvr>
    <a:masterClrMapping/>
  </p:clrMapOvr>
  <p:transition spd="slow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Automated loan risk assessment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230</a:t>
            </a:r>
          </a:p>
        </p:txBody>
      </p:sp>
    </p:spTree>
  </p:cSld>
  <p:clrMapOvr>
    <a:masterClrMapping/>
  </p:clrMapOvr>
  <p:transition spd="slow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Automated bank reconciliation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231</a:t>
            </a:r>
          </a:p>
        </p:txBody>
      </p:sp>
    </p:spTree>
  </p:cSld>
  <p:clrMapOvr>
    <a:masterClrMapping/>
  </p:clrMapOvr>
  <p:transition spd="slow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Copilot Studio agent anatomy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232</a:t>
            </a:r>
          </a:p>
        </p:txBody>
      </p:sp>
    </p:spTree>
  </p:cSld>
  <p:clrMapOvr>
    <a:masterClrMapping/>
  </p:clrMapOvr>
  <p:transition spd="slow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Multi-agent collaboration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233</a:t>
            </a:r>
          </a:p>
        </p:txBody>
      </p:sp>
    </p:spTree>
  </p:cSld>
  <p:clrMapOvr>
    <a:masterClrMapping/>
  </p:clrMapOvr>
  <p:transition spd="slow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Reconcile data with Finance Agent in Excel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234</a:t>
            </a:r>
          </a:p>
        </p:txBody>
      </p:sp>
    </p:spTree>
  </p:cSld>
  <p:clrMapOvr>
    <a:masterClrMapping/>
  </p:clrMapOvr>
  <p:transition spd="slow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AI and machine-learning applications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235</a:t>
            </a:r>
          </a:p>
        </p:txBody>
      </p:sp>
    </p:spTree>
  </p:cSld>
  <p:clrMapOvr>
    <a:masterClrMapping/>
  </p:clrMapOvr>
  <p:transition spd="slow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Learning and model behaviour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236</a:t>
            </a:r>
          </a:p>
        </p:txBody>
      </p:sp>
    </p:spTree>
  </p:cSld>
  <p:clrMapOvr>
    <a:masterClrMapping/>
  </p:clrMapOvr>
  <p:transition spd="slow">
    <p:fade/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Synthetic fraud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237</a:t>
            </a:r>
          </a:p>
        </p:txBody>
      </p:sp>
    </p:spTree>
  </p:cSld>
  <p:clrMapOvr>
    <a:masterClrMapping/>
  </p:clrMapOvr>
  <p:transition spd="slow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Confusion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238</a:t>
            </a:r>
          </a:p>
        </p:txBody>
      </p:sp>
    </p:spTree>
  </p:cSld>
  <p:clrMapOvr>
    <a:masterClrMapping/>
  </p:clrMapOvr>
  <p:transition spd="slow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Feature engineering concepts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239</a:t>
            </a:r>
          </a:p>
        </p:txBody>
      </p:sp>
    </p:spTree>
  </p:cSld>
  <p:clrMapOvr>
    <a:masterClrMapping/>
  </p:clrMapOvr>
  <p:transition spd="slow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AI-generated fraud alerts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240</a:t>
            </a:r>
          </a:p>
        </p:txBody>
      </p:sp>
    </p:spTree>
  </p:cSld>
  <p:clrMapOvr>
    <a:masterClrMapping/>
  </p:clrMapOvr>
  <p:transition spd="slow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Finance AI operating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241</a:t>
            </a:r>
          </a:p>
        </p:txBody>
      </p:sp>
    </p:spTree>
  </p:cSld>
  <p:clrMapOvr>
    <a:masterClrMapping/>
  </p:clrMapOvr>
  <p:transition spd="slow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Finance change-management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1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242</a:t>
            </a:r>
          </a:p>
        </p:txBody>
      </p:sp>
    </p:spTree>
  </p:cSld>
  <p:clrMapOvr>
    <a:masterClrMapping/>
  </p:clrMapOvr>
  <p:transition spd="slow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Risk monitoring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243</a:t>
            </a:r>
          </a:p>
        </p:txBody>
      </p:sp>
    </p:spTree>
  </p:cSld>
  <p:clrMapOvr>
    <a:masterClrMapping/>
  </p:clrMapOvr>
  <p:transition spd="slow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REDESIGNED FROM ORIGINAL COURSE GRAPHIC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Legacy visual reframed · Lewin change framework for finance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508760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gacy-s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91640"/>
            <a:ext cx="6172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73152" cy="123444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7190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2219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the claim, data flow or decision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8803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30906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3593591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Ask which assumptions and risks the visual leaves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251960"/>
            <a:ext cx="73152" cy="1234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4462272"/>
            <a:ext cx="3749039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4965192"/>
            <a:ext cx="3749039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Translate the pattern into a controlled finance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244</a:t>
            </a:r>
          </a:p>
        </p:txBody>
      </p:sp>
    </p:spTree>
  </p:cSld>
  <p:clrMapOvr>
    <a:masterClrMapping/>
  </p:clrMapOvr>
  <p:transition spd="slow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Accounts payable invoice triage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Route invoices, detect missing fields and draft exception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Three-way match, duplicate rules, reviewer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handling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Touchless rate · exception ageing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Invoice fraud and duplicate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245</a:t>
            </a:r>
          </a:p>
        </p:txBody>
      </p:sp>
    </p:spTree>
  </p:cSld>
  <p:clrMapOvr>
    <a:masterClrMapping/>
  </p:clrMapOvr>
  <p:transition spd="slow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Cash application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remittances to open invoices and explain residuals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Tolerance rules, customer key validation,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posting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Auto-match rate · unapplied 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Incorrect customer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246</a:t>
            </a:r>
          </a:p>
        </p:txBody>
      </p:sp>
    </p:spTree>
  </p:cSld>
  <p:clrMapOvr>
    <a:masterClrMapping/>
  </p:clrMapOvr>
  <p:transition spd="slow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Collections prioritisation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Rank overdue accounts and draft context-aware outreach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Approved templates and human send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Improved DSO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Promise-to-pay rate · DSO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Unfair or inappropriate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247</a:t>
            </a:r>
          </a:p>
        </p:txBody>
      </p:sp>
    </p:spTree>
  </p:cSld>
  <p:clrMapOvr>
    <a:masterClrMapping/>
  </p:clrMapOvr>
  <p:transition spd="slow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Expense policy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employee expense questions from approved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Effective-date citations and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First-contact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Outdated or unauthorised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248</a:t>
            </a:r>
          </a:p>
        </p:txBody>
      </p:sp>
    </p:spTree>
  </p:cSld>
  <p:clrMapOvr>
    <a:masterClrMapping/>
  </p:clrMapOvr>
  <p:transition spd="slow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Regulatory filing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obligations and draft a review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Primary-source citations and legal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interpretation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hours · citation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Hallucinated requirement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249</a:t>
            </a:r>
          </a:p>
        </p:txBody>
      </p:sp>
    </p:spTree>
  </p:cSld>
  <p:clrMapOvr>
    <a:masterClrMapping/>
  </p:clrMapOvr>
  <p:transition spd="slow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Earnings-call preparation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Synthesize performance drivers and likely stakeholder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approved results and disclosures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preparation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Prep cycle time · corrections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Selective or misleading narrative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250</a:t>
            </a:r>
          </a:p>
        </p:txBody>
      </p:sp>
    </p:spTree>
  </p:cSld>
  <p:clrMapOvr>
    <a:masterClrMapping/>
  </p:clrMapOvr>
  <p:transition spd="slow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Treasury liquidity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cash, facilities and forecast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As-of timestamps and source reconciliation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visibility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Forecast error · liquidity 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Stale balances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251</a:t>
            </a:r>
          </a:p>
        </p:txBody>
      </p:sp>
    </p:spTree>
  </p:cSld>
  <p:clrMapOvr>
    <a:masterClrMapping/>
  </p:clrMapOvr>
  <p:transition spd="slow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Credit memo drafting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borrower facts and analyst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Reason codes, source citations, credit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Analyst productivity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Turnaround · override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Bias and unsupported conclusions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252</a:t>
            </a:r>
          </a:p>
        </p:txBody>
      </p:sp>
    </p:spTree>
  </p:cSld>
  <p:clrMapOvr>
    <a:masterClrMapping/>
  </p:clrMapOvr>
  <p:transition spd="slow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Insurance claims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documents and flag inconsistencies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Access control, human adjudication, appeal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triage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Cycle time · rework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Sensitive-data leakage and wrongful denial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253</a:t>
            </a:r>
          </a:p>
        </p:txBody>
      </p:sp>
    </p:spTree>
  </p:cSld>
  <p:clrMapOvr>
    <a:masterClrMapping/>
  </p:clrMapOvr>
  <p:transition spd="slow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Financial research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filings, transcripts and macro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Citations, as-of dates, restricted recommendation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Broader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Source coverage · correction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Unverified market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254</a:t>
            </a:r>
          </a:p>
        </p:txBody>
      </p:sp>
    </p:spTree>
  </p:cSld>
  <p:clrMapOvr>
    <a:masterClrMapping/>
  </p:clrMapOvr>
  <p:transition spd="slow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Budget build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an editable driver-based budget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Formula audit and assumption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model assembly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time · formula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Hidden hard-codes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255</a:t>
            </a:r>
          </a:p>
        </p:txBody>
      </p:sp>
    </p:spTree>
  </p:cSld>
  <p:clrMapOvr>
    <a:masterClrMapping/>
  </p:clrMapOvr>
  <p:transition spd="slow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Management variance analysis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Identify material period variances and draft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rules and evidence-backed narrative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Shorter reporting 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Close days · narrative corrections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False causality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256</a:t>
            </a:r>
          </a:p>
        </p:txBody>
      </p:sp>
    </p:spTree>
  </p:cSld>
  <p:clrMapOvr>
    <a:masterClrMapping/>
  </p:clrMapOvr>
  <p:transition spd="slow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Balance-sheet reconciliation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account structures and generate reconciliation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Deterministic rules, tolerance and reviewer sign-off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Auto-match rate · aged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Incorrect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257</a:t>
            </a:r>
          </a:p>
        </p:txBody>
      </p:sp>
    </p:spTree>
  </p:cSld>
  <p:clrMapOvr>
    <a:masterClrMapping/>
  </p:clrMapOvr>
  <p:transition spd="slow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Intercompany matching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reciprocal entries and surface entity or FX differences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Entity scoping and elimination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unresolved 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Unmatched value · ageing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Cross-entity access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258</a:t>
            </a:r>
          </a:p>
        </p:txBody>
      </p:sp>
    </p:spTree>
  </p:cSld>
  <p:clrMapOvr>
    <a:masterClrMapping/>
  </p:clrMapOvr>
  <p:transition spd="slow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Revenue bridge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Decompose growth into volume, price, mix and FX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Reconciled bridge and driver definitions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Clearer performance 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Unexplained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Incorrect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259</a:t>
            </a:r>
          </a:p>
        </p:txBody>
      </p:sp>
    </p:spTree>
  </p:cSld>
  <p:clrMapOvr>
    <a:masterClrMapping/>
  </p:clrMapOvr>
  <p:transition spd="slow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Rolling forecast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Extend forecast from recent actuals and operational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Back-testing and scenario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reforecast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MAPE ·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Overfitting and stale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260</a:t>
            </a:r>
          </a:p>
        </p:txBody>
      </p:sp>
    </p:spTree>
  </p:cSld>
  <p:clrMapOvr>
    <a:masterClrMapping/>
  </p:clrMapOvr>
  <p:transition spd="slow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Headcount cost forecast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Model hires, attrition, salary, bonus and vacancy timing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Aggregate data and restricted payroll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workforce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Forecast error · vacancy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Personal-data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261</a:t>
            </a:r>
          </a:p>
        </p:txBody>
      </p:sp>
    </p:spTree>
  </p:cSld>
  <p:clrMapOvr>
    <a:masterClrMapping/>
  </p:clrMapOvr>
  <p:transition spd="slow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Working-capital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Visualise DSO, DPO, inventory days and cash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Definitions and control totals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Actionable cash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Cash conversion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Metric inconsistency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262</a:t>
            </a:r>
          </a:p>
        </p:txBody>
      </p:sp>
    </p:spTree>
  </p:cSld>
  <p:clrMapOvr>
    <a:masterClrMapping/>
  </p:clrMapOvr>
  <p:transition spd="slow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Spend anomaly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Highlight unusual vendor, amount or timing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Risk scores as triage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Leakage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Confirmed exceptions · review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False accusations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263</a:t>
            </a:r>
          </a:p>
        </p:txBody>
      </p:sp>
    </p:spTree>
  </p:cSld>
  <p:clrMapOvr>
    <a:masterClrMapping/>
  </p:clrMapOvr>
  <p:transition spd="slow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Board pack 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charts, narrative and actions from approved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Single approved source and CFO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Shorter reporting 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Cycle time · revisions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Disclosure inconsistency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264</a:t>
            </a:r>
          </a:p>
        </p:txBody>
      </p:sp>
    </p:spTree>
  </p:cSld>
  <p:clrMapOvr>
    <a:masterClrMapping/>
  </p:clrMapOvr>
  <p:transition spd="slow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Internal finance query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process and policy questions with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Authentication, source permissions and DLP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support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Resolution ·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Oversharing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265</a:t>
            </a:r>
          </a:p>
        </p:txBody>
      </p:sp>
    </p:spTree>
  </p:cSld>
  <p:clrMapOvr>
    <a:masterClrMapping/>
  </p:clrMapOvr>
  <p:transition spd="slow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Close orchestration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Coordinate tasks, owners, evidence and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Read-only by default and explicit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More predictable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On-time tasks · reopen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Unapproved journal or sign-off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266</a:t>
            </a:r>
          </a:p>
        </p:txBody>
      </p:sp>
    </p:spTree>
  </p:cSld>
  <p:clrMapOvr>
    <a:masterClrMapping/>
  </p:clrMapOvr>
  <p:transition spd="slow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Collections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Bring ERP context into Outlook and prepare response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Human approval and communication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Scalable outreach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DSO · response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Automated external message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267</a:t>
            </a:r>
          </a:p>
        </p:txBody>
      </p:sp>
    </p:spTree>
  </p:cSld>
  <p:clrMapOvr>
    <a:masterClrMapping/>
  </p:clrMapOvr>
  <p:transition spd="slow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Procure-to-pay exception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Gather missing evidence and route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Whitelisted actions and amount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queue ageing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Resolution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Tool abuse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268</a:t>
            </a:r>
          </a:p>
        </p:txBody>
      </p:sp>
    </p:spTree>
  </p:cSld>
  <p:clrMapOvr>
    <a:masterClrMapping/>
  </p:clrMapOvr>
  <p:transition spd="slow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Tax research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Retrieve internal positions and authoritative guidance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Jurisdiction filters, effective dates, expert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Research time · citation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Outdated or cross-jurisdiction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269</a:t>
            </a:r>
          </a:p>
        </p:txBody>
      </p:sp>
    </p:spTree>
  </p:cSld>
  <p:clrMapOvr>
    <a:masterClrMapping/>
  </p:clrMapOvr>
  <p:transition spd="slow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Audit evidence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Index, retrieve and summarise evidence for test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IDs and auditor judgement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search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Retrieval precision ·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Evidence incompleteness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270</a:t>
            </a:r>
          </a:p>
        </p:txBody>
      </p:sp>
    </p:spTree>
  </p:cSld>
  <p:clrMapOvr>
    <a:masterClrMapping/>
  </p:clrMapOvr>
  <p:transition spd="slow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Disclosure checklist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Map approved disclosures to evidence and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Controlled checklist and preparer/reviewer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omissions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Open items · late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Wrong reporting 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271</a:t>
            </a:r>
          </a:p>
        </p:txBody>
      </p:sp>
    </p:spTree>
  </p:cSld>
  <p:clrMapOvr>
    <a:masterClrMapping/>
  </p:clrMapOvr>
  <p:transition spd="slow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Investment research multi-agent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Separate retrieval, financial analysis, risk challenge and 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Handoff schemas and independent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Traceable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 accuracy · disagreement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Compounding agent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272</a:t>
            </a:r>
          </a:p>
        </p:txBody>
      </p:sp>
    </p:spTree>
  </p:cSld>
  <p:clrMapOvr>
    <a:masterClrMapping/>
  </p:clrMapOvr>
  <p:transition spd="slow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Customer service banking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product and service questions using approved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Scope limits and human 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24/7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Containment · complaints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Unsuitable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273</a:t>
            </a:r>
          </a:p>
        </p:txBody>
      </p:sp>
    </p:spTree>
  </p:cSld>
  <p:clrMapOvr>
    <a:masterClrMapping/>
  </p:clrMapOvr>
  <p:transition spd="slow">
    <p:fade/>
  </p:transition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3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Loan document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covenants, conditions and exceptions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Clause-level citations and legal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time · missed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Missed clauses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274</a:t>
            </a:r>
          </a:p>
        </p:txBody>
      </p:sp>
    </p:spTree>
  </p:cSld>
  <p:clrMapOvr>
    <a:masterClrMapping/>
  </p:clrMapOvr>
  <p:transition spd="slow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Card fraud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transactions using behaviour, merchant and device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Threshold economics and investigator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fraud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Recall · precision ·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False positives and model drift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275</a:t>
            </a:r>
          </a:p>
        </p:txBody>
      </p:sp>
    </p:spTree>
  </p:cSld>
  <p:clrMapOvr>
    <a:masterClrMapping/>
  </p:clrMapOvr>
  <p:transition spd="slow">
    <p:fade/>
  </p:transition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AML investigation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transactions, entities and evidence into a case narrative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links and investigator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investigation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Case time · SAR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Privacy and confirmation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276</a:t>
            </a:r>
          </a:p>
        </p:txBody>
      </p:sp>
    </p:spTree>
  </p:cSld>
  <p:clrMapOvr>
    <a:masterClrMapping/>
  </p:clrMapOvr>
  <p:transition spd="slow">
    <p:fade/>
  </p:transition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Account takeover 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Detect device, location and behavioural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Step-up verification and risk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containment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Fraud loss · challenge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Customer friction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277</a:t>
            </a:r>
          </a:p>
        </p:txBody>
      </p:sp>
    </p:spTree>
  </p:cSld>
  <p:clrMapOvr>
    <a:masterClrMapping/>
  </p:clrMapOvr>
  <p:transition spd="slow">
    <p:fade/>
  </p:transition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Synthetic fraud scenario generation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rare attack patterns for resilience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Domain review and isolated test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Broader test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Scenario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Unrealistic or unsafe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278</a:t>
            </a:r>
          </a:p>
        </p:txBody>
      </p:sp>
    </p:spTree>
  </p:cSld>
  <p:clrMapOvr>
    <a:masterClrMapping/>
  </p:clrMapOvr>
  <p:transition spd="slow">
    <p:fade/>
  </p:transition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Model documentation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Draft model cards, limitations and monitoring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Required fields and independent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Consistent documentation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Documentation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False completeness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279</a:t>
            </a:r>
          </a:p>
        </p:txBody>
      </p:sp>
    </p:spTree>
  </p:cSld>
  <p:clrMapOvr>
    <a:masterClrMapping/>
  </p:clrMapOvr>
  <p:transition spd="slow">
    <p:fade/>
  </p:transition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Policy compliance monitor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Compare agent configuration with approved control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Configuration inventory and periodic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Earlier control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Control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Blind spots in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280</a:t>
            </a:r>
          </a:p>
        </p:txBody>
      </p:sp>
    </p:spTree>
  </p:cSld>
  <p:clrMapOvr>
    <a:masterClrMapping/>
  </p:clrMapOvr>
  <p:transition spd="slow">
    <p:fade/>
  </p:transition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Prompt-injection test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Generate and execute adversarial test cases in a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Isolated environment and no live secrets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Stronger resilience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Attack success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Unsafe testing against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281</a:t>
            </a:r>
          </a:p>
        </p:txBody>
      </p:sp>
    </p:spTree>
  </p:cSld>
  <p:clrMapOvr>
    <a:masterClrMapping/>
  </p:clrMapOvr>
  <p:transition spd="slow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Vendor AI due diligence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contracts, controls, data use and concentration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Evidence request and accountable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Open risks ·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Reliance on vendor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282</a:t>
            </a:r>
          </a:p>
        </p:txBody>
      </p:sp>
    </p:spTree>
  </p:cSld>
  <p:clrMapOvr>
    <a:masterClrMapping/>
  </p:clrMapOvr>
  <p:transition spd="slow">
    <p:fade/>
  </p:transition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Cyber alert enrichment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threat intelligence and affected financial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Trusted feeds and tool isolation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MTTR · false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Poisoned external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283</a:t>
            </a:r>
          </a:p>
        </p:txBody>
      </p:sp>
    </p:spTree>
  </p:cSld>
  <p:clrMapOvr>
    <a:masterClrMapping/>
  </p:clrMapOvr>
  <p:transition spd="slow">
    <p:fade/>
  </p:transition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4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Fair lending monitoring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Test model outcomes and explanations across groups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Governed fairness testing and remediation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Reduced bias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Disparity · override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Sensitive attribute misuse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284</a:t>
            </a:r>
          </a:p>
        </p:txBody>
      </p:sp>
    </p:spTree>
  </p:cSld>
  <p:clrMapOvr>
    <a:masterClrMapping/>
  </p:clrMapOvr>
  <p:transition spd="slow">
    <p:fade/>
  </p:transition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Finance AI use-case portfolio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Score initiatives on value, feasibility, risk and 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Stage gates and realised-benefit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investment choices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NPV · adoption · risk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Optimism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285</a:t>
            </a:r>
          </a:p>
        </p:txBody>
      </p:sp>
    </p:spTree>
  </p:cSld>
  <p:clrMapOvr>
    <a:masterClrMapping/>
  </p:clrMapOvr>
  <p:transition spd="slow">
    <p:fade/>
  </p:transition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Licence and capacity optimisation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Track agent usage and right-size licences or message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Service tiers and usage budgets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run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Cost per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Under-provisioning critical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286</a:t>
            </a:r>
          </a:p>
        </p:txBody>
      </p:sp>
    </p:spTree>
  </p:cSld>
  <p:clrMapOvr>
    <a:masterClrMapping/>
  </p:clrMapOvr>
  <p:transition spd="slow">
    <p:fade/>
  </p:transition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Agent factory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Reuse identity, knowledge, tool, evaluation and monitoring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Catalogue, templates and retirement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safe delivery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Lead time ·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Agent sprawl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287</a:t>
            </a:r>
          </a:p>
        </p:txBody>
      </p:sp>
    </p:spTree>
  </p:cSld>
  <p:clrMapOvr>
    <a:masterClrMapping/>
  </p:clrMapOvr>
  <p:transition spd="slow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AI-enabled finance operating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Define product, control, data and platform ownership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RACI and lifecycle governance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Sustainable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Incidents · release 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Ambiguous 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288</a:t>
            </a:r>
          </a:p>
        </p:txBody>
      </p:sp>
    </p:spTree>
  </p:cSld>
  <p:clrMapOvr>
    <a:masterClrMapping/>
  </p:clrMapOvr>
  <p:transition spd="slow">
    <p:fade/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Legacy process modernisation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agents to bridge old workflows while redesigning the target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Sunset plan and architecture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transition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Retired steps ·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Permanent fragile workarounds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289</a:t>
            </a:r>
          </a:p>
        </p:txBody>
      </p:sp>
    </p:spTree>
  </p:cSld>
  <p:clrMapOvr>
    <a:masterClrMapping/>
  </p:clrMapOvr>
  <p:transition spd="slow">
    <p:fade/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Continuous controls monitoring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Monitor control evidence and exceptions across the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Materiality and owner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Earlier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Exception 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Alert fatigue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290</a:t>
            </a:r>
          </a:p>
        </p:txBody>
      </p:sp>
    </p:spTree>
  </p:cSld>
  <p:clrMapOvr>
    <a:masterClrMapping/>
  </p:clrMapOvr>
  <p:transition spd="slow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Digital finance coach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Deliver role-based guidance using approved internal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Curated knowledge and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adoption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Adoption · competency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Incorrect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291</a:t>
            </a:r>
          </a:p>
        </p:txBody>
      </p:sp>
    </p:spTree>
  </p:cSld>
  <p:clrMapOvr>
    <a:masterClrMapping/>
  </p:clrMapOvr>
  <p:transition spd="slow">
    <p:fade/>
  </p:transition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5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AI investment committee pack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Combine value, risk, cost and readiness evidence for gate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Independent challenge and post-investment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Disciplined scaling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Benefits realised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Metric gaming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292</a:t>
            </a:r>
          </a:p>
        </p:txBody>
      </p:sp>
    </p:spTree>
  </p:cSld>
  <p:clrMapOvr>
    <a:masterClrMapping/>
  </p:clrMapOvr>
  <p:transition spd="slow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Accounts payable invoice triage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Route invoices, detect missing fields and draft exception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Three-way match, duplicate rules, reviewer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Lower handling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Touchless rate · exception ageing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Invoice fraud and duplicate 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293</a:t>
            </a:r>
          </a:p>
        </p:txBody>
      </p:sp>
    </p:spTree>
  </p:cSld>
  <p:clrMapOvr>
    <a:masterClrMapping/>
  </p:clrMapOvr>
  <p:transition spd="slow">
    <p:fade/>
  </p:transition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Cash application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Match remittances to open invoices and explain residuals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Tolerance rules, customer key validation,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posting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Auto-match rate · unapplied 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Incorrect customer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294</a:t>
            </a:r>
          </a:p>
        </p:txBody>
      </p:sp>
    </p:spTree>
  </p:cSld>
  <p:clrMapOvr>
    <a:masterClrMapping/>
  </p:clrMapOvr>
  <p:transition spd="slow">
    <p:fade/>
  </p:transition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Collections prioritisation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Rank overdue accounts and draft context-aware outreach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Approved templates and human send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Improved DSO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Promise-to-pay rate · DSO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Unfair or inappropriate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295</a:t>
            </a:r>
          </a:p>
        </p:txBody>
      </p:sp>
    </p:spTree>
  </p:cSld>
  <p:clrMapOvr>
    <a:masterClrMapping/>
  </p:clrMapOvr>
  <p:transition spd="slow">
    <p:fade/>
  </p:transition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Expense policy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Answer employee expense questions from approved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Effective-date citations and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Fewer queries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First-contact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Outdated or unauthorised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296</a:t>
            </a:r>
          </a:p>
        </p:txBody>
      </p:sp>
    </p:spTree>
  </p:cSld>
  <p:clrMapOvr>
    <a:masterClrMapping/>
  </p:clrMapOvr>
  <p:transition spd="slow">
    <p:fade/>
  </p:transition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Regulatory filing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Extract obligations and draft a review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Primary-source citations and legal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interpretation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Review hours · citation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Hallucinated requirement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297</a:t>
            </a:r>
          </a:p>
        </p:txBody>
      </p:sp>
    </p:spTree>
  </p:cSld>
  <p:clrMapOvr>
    <a:masterClrMapping/>
  </p:clrMapOvr>
  <p:transition spd="slow">
    <p:fade/>
  </p:transition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Earnings-call preparation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Synthesize performance drivers and likely stakeholder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Reconcile to approved results and disclosures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Better preparation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Prep cycle time · corrections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Selective or misleading narrative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298</a:t>
            </a:r>
          </a:p>
        </p:txBody>
      </p:sp>
    </p:spTree>
  </p:cSld>
  <p:clrMapOvr>
    <a:masterClrMapping/>
  </p:clrMapOvr>
  <p:transition spd="slow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Treasury liquidity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cash, facilities and forecast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As-of timestamps and source reconciliation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visibility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Forecast error · liquidity 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Stale balances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299</a:t>
            </a:r>
          </a:p>
        </p:txBody>
      </p:sp>
    </p:spTree>
  </p:cSld>
  <p:clrMapOvr>
    <a:masterClrMapping/>
  </p:clrMapOvr>
  <p:transition spd="slow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Credit memo drafting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Assemble borrower facts and analyst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Reason codes, source citations, credit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Analyst productivity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Turnaround · override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Bias and unsupported conclusions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300</a:t>
            </a:r>
          </a:p>
        </p:txBody>
      </p:sp>
    </p:spTree>
  </p:cSld>
  <p:clrMapOvr>
    <a:masterClrMapping/>
  </p:clrMapOvr>
  <p:transition spd="slow">
    <p:fade/>
  </p:transition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ECONOMICS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Insurance claims summarisation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baseline cost exists?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documents and flag inconsistencies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value KPI changes?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Access control, human adjudication, appeal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capacity is consumed?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triage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stop condition protects cash?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Cycle time · rework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Sensitive-data leakage and wrongful denial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301</a:t>
            </a:r>
          </a:p>
        </p:txBody>
      </p:sp>
    </p:spTree>
  </p:cSld>
  <p:clrMapOvr>
    <a:masterClrMapping/>
  </p:clrMapOvr>
  <p:transition spd="slow">
    <p:fade/>
  </p:transition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1 · EVIDENCE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Financial research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source is authoritative?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Summarise filings, transcripts and macro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total must reconcile?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Citations, as-of dates, restricted recommendation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assumption needs an owner?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Broader coverage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evidence proves completion?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Source coverage · correction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Unverified market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302</a:t>
            </a:r>
          </a:p>
        </p:txBody>
      </p:sp>
    </p:spTree>
  </p:cSld>
  <p:clrMapOvr>
    <a:masterClrMapping/>
  </p:clrMapOvr>
  <p:transition spd="slow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TOPIC 2 · SECURITY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Decision drill · Budget build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73152" cy="333756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Who can invoke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Create an editable driver-based budget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73152" cy="3337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What data can leave the boundary?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Formula audit and assumption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600200"/>
            <a:ext cx="73152" cy="33375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Which tool can write?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Faster model assembly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4871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73152" cy="3337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783080"/>
            <a:ext cx="2103120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39112"/>
            <a:ext cx="20756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How is misuse detected?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96312"/>
            <a:ext cx="2075688" cy="23134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Build time · formula defects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300" b="1">
                <a:solidFill>
                  <a:srgbClr val="D64545"/>
                </a:solidFill>
                <a:latin typeface="Aptos"/>
              </a:defRPr>
            </a:pPr>
            <a:r>
              <a:t>Risk to resolve: Hidden hard-codes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303</a:t>
            </a:r>
          </a:p>
        </p:txBody>
      </p:sp>
    </p:spTree>
  </p:cSld>
  <p:clrMapOvr>
    <a:masterClrMapping/>
  </p:clrMapOvr>
  <p:transition spd="slow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OFFICIAL AND PRACTITIONER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References and further reading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508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19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Course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21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https://www.tertiarycourses.com.sg/casl-generative-ai-for-finance-and-fintech.html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19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Copilot in Excel - 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221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https://support.microsoft.com/en-us/excel/copilot/get-started-with-copilot-in-excel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62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Finance Agent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364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https://learn.microsoft.com/en-us/copilot/finance/welcome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51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51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62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Variance analysis in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364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https://learn.microsoft.com/en-us/copilot/finance/variance/analyze-variances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005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Microsoft finance scenario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07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https://adoption.microsoft.com/en-us/scenario-library/finance/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94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94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005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Copilot Studio security and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507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https://learn.microsoft.com/en-us/microsoft-copilot-studio/security-and-governance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148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Copilot Studio data policies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650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https://learn.microsoft.com/en-us/microsoft-copilot-studio/admin-data-loss-prevention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937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937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5148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Copilot Studio secure projects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650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https://learn.microsoft.com/en-us/microsoft-copilot-studio/guidance/sec-gov-phase3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304</a:t>
            </a:r>
          </a:p>
        </p:txBody>
      </p:sp>
    </p:spTree>
  </p:cSld>
  <p:clrMapOvr>
    <a:masterClrMapping/>
  </p:clrMapOvr>
  <p:transition spd="slow">
    <p:fade/>
  </p:transition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OFFICIAL AND PRACTITIONER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References and further reading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508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19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Microsoft Copilot 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21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https://learn.microsoft.com/en-us/microsoft-365/copilot/copilot-control-system/security-governance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19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MAS FEAT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221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https://www.mas.gov.sg/~/media/MAS/News%20and%20Publications/Monographs%20and%20Information%20Papers/FEAT%20Principles%20Final.pdf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51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62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US Treasury AI in Financial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364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https://home.treasury.gov/system/files/136/Artificial-Intelligence-in-Financial-Services.pdf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51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51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862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US Treasury AI cybersecurity risks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364991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https://home.treasury.gov/system/files/136/Managing-Artificial-Intelligence-Specific-Cybersecurity-Risks-In-The-Financial-Services-Sector.pdf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94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005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Financial Services AI Risk Management Framework announcement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07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https://home.treasury.gov/news/press-releases/sb0401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94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94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005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Databricks finance AI outlook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507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https://www.databricks.com/sites/default/files/2025-02/finance-report-jan-30.pdf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37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73152" cy="9601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148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Databricks AI applications in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650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https://www.databricks.com/blog/ai-applications-in-finance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937760"/>
            <a:ext cx="52303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937760"/>
            <a:ext cx="73152" cy="9601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5148072"/>
            <a:ext cx="4818888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Association for Financial Professionals - AI in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650992"/>
            <a:ext cx="4818888" cy="1371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https://www.financialprofessionals.org/glossary/ai-in-finance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305</a:t>
            </a:r>
          </a:p>
        </p:txBody>
      </p:sp>
    </p:spTree>
  </p:cSld>
  <p:clrMapOvr>
    <a:masterClrMapping/>
  </p:clrMapOvr>
  <p:transition spd="slow">
    <p:fade/>
  </p:transition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900" b="1">
                <a:solidFill>
                  <a:srgbClr val="00A6A6"/>
                </a:solidFill>
                <a:latin typeface="Aptos"/>
              </a:defRPr>
            </a:pPr>
            <a:r>
              <a:t>COURSE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2500" b="1">
                <a:solidFill>
                  <a:srgbClr val="123A63"/>
                </a:solidFill>
                <a:latin typeface="Aptos"/>
              </a:defRPr>
            </a:pPr>
            <a:r>
              <a:t>From copilots to governed finance capability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52728"/>
            <a:ext cx="11183112" cy="0"/>
          </a:xfrm>
          <a:prstGeom prst="line">
            <a:avLst/>
          </a:prstGeom>
          <a:ln w="12700">
            <a:solidFill>
              <a:srgbClr val="D8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4592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73152" cy="3474720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828800"/>
            <a:ext cx="20848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1473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084832"/>
            <a:ext cx="20574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542032"/>
            <a:ext cx="2057400" cy="24505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Use authoritative finance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64592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645920"/>
            <a:ext cx="73152" cy="34747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828800"/>
            <a:ext cx="20848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00A6A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084832"/>
            <a:ext cx="20574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542032"/>
            <a:ext cx="2057400" cy="24505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Keep formulas and assumptions inspectable.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4592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645920"/>
            <a:ext cx="73152" cy="34747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20848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F2B1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84832"/>
            <a:ext cx="20574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542032"/>
            <a:ext cx="2057400" cy="24505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Bound tools, thresholds and approvals.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645920"/>
            <a:ext cx="2468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645920"/>
            <a:ext cx="73152" cy="3474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828800"/>
            <a:ext cx="2084832" cy="22860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800" b="1">
                <a:solidFill>
                  <a:srgbClr val="2E8B5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084832"/>
            <a:ext cx="2057400" cy="438912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123A63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542032"/>
            <a:ext cx="2057400" cy="245059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1050" b="0">
                <a:solidFill>
                  <a:srgbClr val="607086"/>
                </a:solidFill>
                <a:latin typeface="Aptos"/>
              </a:defRPr>
            </a:pPr>
            <a:r>
              <a:t>Retain evidence, UAT and monitoring.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123A63"/>
                </a:solidFill>
                <a:latin typeface="Aptos"/>
              </a:defRPr>
            </a:pPr>
            <a:r>
              <a:t>Value arrives when evidence changes a controlled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defRPr sz="700" b="0">
                <a:solidFill>
                  <a:srgbClr val="607086"/>
                </a:solidFill>
                <a:latin typeface="Aptos"/>
              </a:defRPr>
            </a:pPr>
            <a:r>
              <a:t>TGS-2026065050  • 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r">
              <a:defRPr sz="800" b="1">
                <a:solidFill>
                  <a:srgbClr val="607086"/>
                </a:solidFill>
                <a:latin typeface="Aptos"/>
              </a:defRPr>
            </a:pPr>
            <a:r>
              <a:t>306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for Finance and Fintech</dc:title>
  <dc:subject>TGS-2026065050 trainer slides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